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1B1B2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04155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1B1B2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04155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62000" y="2822448"/>
            <a:ext cx="60960" cy="2456815"/>
          </a:xfrm>
          <a:custGeom>
            <a:avLst/>
            <a:gdLst/>
            <a:ahLst/>
            <a:cxnLst/>
            <a:rect l="l" t="t" r="r" b="b"/>
            <a:pathLst>
              <a:path w="60959" h="2456815">
                <a:moveTo>
                  <a:pt x="60959" y="0"/>
                </a:moveTo>
                <a:lnTo>
                  <a:pt x="0" y="0"/>
                </a:lnTo>
                <a:lnTo>
                  <a:pt x="0" y="2456688"/>
                </a:lnTo>
                <a:lnTo>
                  <a:pt x="60959" y="2456688"/>
                </a:lnTo>
                <a:lnTo>
                  <a:pt x="60959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026408" y="2822448"/>
            <a:ext cx="60960" cy="2456815"/>
          </a:xfrm>
          <a:custGeom>
            <a:avLst/>
            <a:gdLst/>
            <a:ahLst/>
            <a:cxnLst/>
            <a:rect l="l" t="t" r="r" b="b"/>
            <a:pathLst>
              <a:path w="60960" h="2456815">
                <a:moveTo>
                  <a:pt x="60960" y="0"/>
                </a:moveTo>
                <a:lnTo>
                  <a:pt x="0" y="0"/>
                </a:lnTo>
                <a:lnTo>
                  <a:pt x="0" y="2456688"/>
                </a:lnTo>
                <a:lnTo>
                  <a:pt x="60960" y="2456688"/>
                </a:lnTo>
                <a:lnTo>
                  <a:pt x="60960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62000" y="5669279"/>
            <a:ext cx="60960" cy="1369060"/>
          </a:xfrm>
          <a:custGeom>
            <a:avLst/>
            <a:gdLst/>
            <a:ahLst/>
            <a:cxnLst/>
            <a:rect l="l" t="t" r="r" b="b"/>
            <a:pathLst>
              <a:path w="60959" h="1369059">
                <a:moveTo>
                  <a:pt x="60959" y="0"/>
                </a:moveTo>
                <a:lnTo>
                  <a:pt x="0" y="0"/>
                </a:lnTo>
                <a:lnTo>
                  <a:pt x="0" y="1368552"/>
                </a:lnTo>
                <a:lnTo>
                  <a:pt x="60959" y="1368552"/>
                </a:lnTo>
                <a:lnTo>
                  <a:pt x="60959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568183" y="2822448"/>
            <a:ext cx="60960" cy="2094230"/>
          </a:xfrm>
          <a:custGeom>
            <a:avLst/>
            <a:gdLst/>
            <a:ahLst/>
            <a:cxnLst/>
            <a:rect l="l" t="t" r="r" b="b"/>
            <a:pathLst>
              <a:path w="60959" h="2094229">
                <a:moveTo>
                  <a:pt x="60959" y="0"/>
                </a:moveTo>
                <a:lnTo>
                  <a:pt x="0" y="0"/>
                </a:lnTo>
                <a:lnTo>
                  <a:pt x="0" y="2093976"/>
                </a:lnTo>
                <a:lnTo>
                  <a:pt x="60959" y="2093976"/>
                </a:lnTo>
                <a:lnTo>
                  <a:pt x="60959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832592" y="2822448"/>
            <a:ext cx="60960" cy="2094230"/>
          </a:xfrm>
          <a:custGeom>
            <a:avLst/>
            <a:gdLst/>
            <a:ahLst/>
            <a:cxnLst/>
            <a:rect l="l" t="t" r="r" b="b"/>
            <a:pathLst>
              <a:path w="60959" h="2094229">
                <a:moveTo>
                  <a:pt x="60959" y="0"/>
                </a:moveTo>
                <a:lnTo>
                  <a:pt x="0" y="0"/>
                </a:lnTo>
                <a:lnTo>
                  <a:pt x="0" y="2093976"/>
                </a:lnTo>
                <a:lnTo>
                  <a:pt x="60959" y="2093976"/>
                </a:lnTo>
                <a:lnTo>
                  <a:pt x="60959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568183" y="5306567"/>
            <a:ext cx="60960" cy="1369060"/>
          </a:xfrm>
          <a:custGeom>
            <a:avLst/>
            <a:gdLst/>
            <a:ahLst/>
            <a:cxnLst/>
            <a:rect l="l" t="t" r="r" b="b"/>
            <a:pathLst>
              <a:path w="60959" h="1369059">
                <a:moveTo>
                  <a:pt x="60959" y="0"/>
                </a:moveTo>
                <a:lnTo>
                  <a:pt x="0" y="0"/>
                </a:lnTo>
                <a:lnTo>
                  <a:pt x="0" y="1368552"/>
                </a:lnTo>
                <a:lnTo>
                  <a:pt x="60959" y="1368552"/>
                </a:lnTo>
                <a:lnTo>
                  <a:pt x="60959" y="0"/>
                </a:lnTo>
                <a:close/>
              </a:path>
            </a:pathLst>
          </a:custGeom>
          <a:solidFill>
            <a:srgbClr val="1B53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1B1B2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1B1B2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922" y="504190"/>
            <a:ext cx="10147401" cy="1122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1B1B27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8973" y="4054076"/>
            <a:ext cx="6889750" cy="1736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04155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78879" y="5452871"/>
            <a:ext cx="3462654" cy="426720"/>
          </a:xfrm>
          <a:custGeom>
            <a:avLst/>
            <a:gdLst/>
            <a:ahLst/>
            <a:cxnLst/>
            <a:rect l="l" t="t" r="r" b="b"/>
            <a:pathLst>
              <a:path w="3462654" h="426720">
                <a:moveTo>
                  <a:pt x="3386201" y="0"/>
                </a:moveTo>
                <a:lnTo>
                  <a:pt x="76327" y="0"/>
                </a:lnTo>
                <a:lnTo>
                  <a:pt x="46612" y="5996"/>
                </a:lnTo>
                <a:lnTo>
                  <a:pt x="22352" y="22351"/>
                </a:lnTo>
                <a:lnTo>
                  <a:pt x="5996" y="46612"/>
                </a:lnTo>
                <a:lnTo>
                  <a:pt x="0" y="76326"/>
                </a:lnTo>
                <a:lnTo>
                  <a:pt x="0" y="350392"/>
                </a:lnTo>
                <a:lnTo>
                  <a:pt x="5996" y="380107"/>
                </a:lnTo>
                <a:lnTo>
                  <a:pt x="22351" y="404368"/>
                </a:lnTo>
                <a:lnTo>
                  <a:pt x="46612" y="420723"/>
                </a:lnTo>
                <a:lnTo>
                  <a:pt x="76327" y="426719"/>
                </a:lnTo>
                <a:lnTo>
                  <a:pt x="3386201" y="426719"/>
                </a:lnTo>
                <a:lnTo>
                  <a:pt x="3415915" y="420723"/>
                </a:lnTo>
                <a:lnTo>
                  <a:pt x="3440176" y="404368"/>
                </a:lnTo>
                <a:lnTo>
                  <a:pt x="3456531" y="380107"/>
                </a:lnTo>
                <a:lnTo>
                  <a:pt x="3462528" y="350392"/>
                </a:lnTo>
                <a:lnTo>
                  <a:pt x="3462528" y="76326"/>
                </a:lnTo>
                <a:lnTo>
                  <a:pt x="3456531" y="46612"/>
                </a:lnTo>
                <a:lnTo>
                  <a:pt x="3440176" y="22351"/>
                </a:lnTo>
                <a:lnTo>
                  <a:pt x="3415915" y="5996"/>
                </a:lnTo>
                <a:lnTo>
                  <a:pt x="3386201" y="0"/>
                </a:lnTo>
                <a:close/>
              </a:path>
            </a:pathLst>
          </a:custGeom>
          <a:solidFill>
            <a:srgbClr val="D2DDF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68973" y="2308301"/>
            <a:ext cx="7261859" cy="141351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dirty="0" spc="-105"/>
              <a:t>Skycast</a:t>
            </a:r>
            <a:r>
              <a:rPr dirty="0" spc="-229"/>
              <a:t> </a:t>
            </a:r>
            <a:r>
              <a:rPr dirty="0"/>
              <a:t>Weather</a:t>
            </a:r>
            <a:r>
              <a:rPr dirty="0" spc="-240"/>
              <a:t> </a:t>
            </a:r>
            <a:r>
              <a:rPr dirty="0" spc="-10"/>
              <a:t>Forecast </a:t>
            </a:r>
            <a:r>
              <a:rPr dirty="0" spc="190"/>
              <a:t>App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80"/>
              </a:spcBef>
            </a:pPr>
            <a:r>
              <a:rPr dirty="0" spc="80"/>
              <a:t>A</a:t>
            </a:r>
            <a:r>
              <a:rPr dirty="0" spc="-15"/>
              <a:t> </a:t>
            </a:r>
            <a:r>
              <a:rPr dirty="0" spc="80"/>
              <a:t>modern,</a:t>
            </a:r>
            <a:r>
              <a:rPr dirty="0" spc="-45"/>
              <a:t> </a:t>
            </a:r>
            <a:r>
              <a:rPr dirty="0" spc="105"/>
              <a:t>location-</a:t>
            </a:r>
            <a:r>
              <a:rPr dirty="0" spc="60"/>
              <a:t>aware</a:t>
            </a:r>
            <a:r>
              <a:rPr dirty="0" spc="-85"/>
              <a:t> </a:t>
            </a:r>
            <a:r>
              <a:rPr dirty="0" spc="80"/>
              <a:t>web</a:t>
            </a:r>
            <a:r>
              <a:rPr dirty="0" spc="-10"/>
              <a:t> </a:t>
            </a:r>
            <a:r>
              <a:rPr dirty="0" spc="75"/>
              <a:t>application</a:t>
            </a:r>
            <a:r>
              <a:rPr dirty="0" spc="-65"/>
              <a:t> </a:t>
            </a:r>
            <a:r>
              <a:rPr dirty="0" spc="55"/>
              <a:t>delivering</a:t>
            </a:r>
            <a:r>
              <a:rPr dirty="0" spc="-30"/>
              <a:t> </a:t>
            </a:r>
            <a:r>
              <a:rPr dirty="0" spc="90"/>
              <a:t>real-</a:t>
            </a:r>
            <a:r>
              <a:rPr dirty="0" spc="95"/>
              <a:t>time </a:t>
            </a:r>
            <a:r>
              <a:rPr dirty="0" spc="90"/>
              <a:t>weather</a:t>
            </a:r>
            <a:r>
              <a:rPr dirty="0" spc="-80"/>
              <a:t> </a:t>
            </a:r>
            <a:r>
              <a:rPr dirty="0" spc="80"/>
              <a:t>data,</a:t>
            </a:r>
            <a:r>
              <a:rPr dirty="0" spc="-35"/>
              <a:t> </a:t>
            </a:r>
            <a:r>
              <a:rPr dirty="0" spc="70"/>
              <a:t>weekly</a:t>
            </a:r>
            <a:r>
              <a:rPr dirty="0" spc="-35"/>
              <a:t> </a:t>
            </a:r>
            <a:r>
              <a:rPr dirty="0" spc="65"/>
              <a:t>forecasts,</a:t>
            </a:r>
            <a:r>
              <a:rPr dirty="0" spc="-65"/>
              <a:t> </a:t>
            </a:r>
            <a:r>
              <a:rPr dirty="0" spc="80"/>
              <a:t>and</a:t>
            </a:r>
            <a:r>
              <a:rPr dirty="0" spc="-5"/>
              <a:t> </a:t>
            </a:r>
            <a:r>
              <a:rPr dirty="0" spc="85"/>
              <a:t>interactive</a:t>
            </a:r>
            <a:r>
              <a:rPr dirty="0" spc="-85"/>
              <a:t> </a:t>
            </a:r>
            <a:r>
              <a:rPr dirty="0" spc="80"/>
              <a:t>maps</a:t>
            </a:r>
            <a:r>
              <a:rPr dirty="0"/>
              <a:t> </a:t>
            </a:r>
            <a:r>
              <a:rPr dirty="0" spc="50"/>
              <a:t>—</a:t>
            </a:r>
            <a:r>
              <a:rPr dirty="0" spc="-15"/>
              <a:t> </a:t>
            </a:r>
            <a:r>
              <a:rPr dirty="0"/>
              <a:t>all</a:t>
            </a:r>
            <a:r>
              <a:rPr dirty="0" spc="-15"/>
              <a:t> </a:t>
            </a:r>
            <a:r>
              <a:rPr dirty="0" spc="65"/>
              <a:t>in</a:t>
            </a:r>
            <a:r>
              <a:rPr dirty="0" spc="-15"/>
              <a:t> </a:t>
            </a:r>
            <a:r>
              <a:rPr dirty="0" spc="45"/>
              <a:t>one </a:t>
            </a:r>
            <a:r>
              <a:rPr dirty="0"/>
              <a:t>seamless</a:t>
            </a:r>
            <a:r>
              <a:rPr dirty="0" spc="60"/>
              <a:t> </a:t>
            </a:r>
            <a:r>
              <a:rPr dirty="0" spc="70"/>
              <a:t>interface.</a:t>
            </a:r>
          </a:p>
          <a:p>
            <a:pPr>
              <a:lnSpc>
                <a:spcPct val="100000"/>
              </a:lnSpc>
              <a:spcBef>
                <a:spcPts val="1150"/>
              </a:spcBef>
            </a:pPr>
          </a:p>
          <a:p>
            <a:pPr marL="147955">
              <a:lnSpc>
                <a:spcPct val="100000"/>
              </a:lnSpc>
            </a:pPr>
            <a:r>
              <a:rPr dirty="0" sz="1400" spc="105"/>
              <a:t>MINI</a:t>
            </a:r>
            <a:r>
              <a:rPr dirty="0" sz="1400" spc="20"/>
              <a:t> </a:t>
            </a:r>
            <a:r>
              <a:rPr dirty="0" sz="1400" spc="-105"/>
              <a:t>PROJECT</a:t>
            </a:r>
            <a:r>
              <a:rPr dirty="0" sz="1400" spc="40"/>
              <a:t> </a:t>
            </a:r>
            <a:r>
              <a:rPr dirty="0" sz="1400"/>
              <a:t>·</a:t>
            </a:r>
            <a:r>
              <a:rPr dirty="0" sz="1400" spc="-55"/>
              <a:t> </a:t>
            </a:r>
            <a:r>
              <a:rPr dirty="0" sz="1400" spc="-35"/>
              <a:t>WEB</a:t>
            </a:r>
            <a:r>
              <a:rPr dirty="0" sz="1400" spc="-15"/>
              <a:t> </a:t>
            </a:r>
            <a:r>
              <a:rPr dirty="0" sz="1400" spc="-10"/>
              <a:t>DEVELOPMENT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6400" cy="8229600"/>
            <a:chOff x="9144000" y="0"/>
            <a:chExt cx="5486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8176" y="7751062"/>
              <a:ext cx="1725168" cy="411480"/>
            </a:xfrm>
            <a:prstGeom prst="rect">
              <a:avLst/>
            </a:prstGeom>
          </p:spPr>
        </p:pic>
        <p:pic>
          <p:nvPicPr>
            <p:cNvPr id="4" name="object 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0"/>
              <a:ext cx="5486400" cy="822959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757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95"/>
              </a:spcBef>
            </a:pPr>
            <a:r>
              <a:rPr dirty="0" sz="4300" spc="-35"/>
              <a:t>The</a:t>
            </a:r>
            <a:r>
              <a:rPr dirty="0" sz="4300" spc="-345"/>
              <a:t> </a:t>
            </a:r>
            <a:r>
              <a:rPr dirty="0" sz="4300" spc="100"/>
              <a:t>Problem</a:t>
            </a:r>
            <a:r>
              <a:rPr dirty="0" sz="4300" spc="-325"/>
              <a:t> </a:t>
            </a:r>
            <a:r>
              <a:rPr dirty="0" sz="4300" spc="-35"/>
              <a:t>We're</a:t>
            </a:r>
            <a:r>
              <a:rPr dirty="0" sz="4300" spc="-310"/>
              <a:t> </a:t>
            </a:r>
            <a:r>
              <a:rPr dirty="0" sz="4300" spc="-10"/>
              <a:t>Solving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737616" y="1895855"/>
            <a:ext cx="7653655" cy="1691639"/>
            <a:chOff x="737616" y="1895855"/>
            <a:chExt cx="7653655" cy="1691639"/>
          </a:xfrm>
        </p:grpSpPr>
        <p:sp>
          <p:nvSpPr>
            <p:cNvPr id="7" name="object 7"/>
            <p:cNvSpPr/>
            <p:nvPr/>
          </p:nvSpPr>
          <p:spPr>
            <a:xfrm>
              <a:off x="768096" y="1911095"/>
              <a:ext cx="7607934" cy="1661160"/>
            </a:xfrm>
            <a:custGeom>
              <a:avLst/>
              <a:gdLst/>
              <a:ahLst/>
              <a:cxnLst/>
              <a:rect l="l" t="t" r="r" b="b"/>
              <a:pathLst>
                <a:path w="7607934" h="1661160">
                  <a:moveTo>
                    <a:pt x="7461758" y="0"/>
                  </a:moveTo>
                  <a:lnTo>
                    <a:pt x="146100" y="0"/>
                  </a:lnTo>
                  <a:lnTo>
                    <a:pt x="99919" y="7447"/>
                  </a:lnTo>
                  <a:lnTo>
                    <a:pt x="59812" y="28183"/>
                  </a:lnTo>
                  <a:lnTo>
                    <a:pt x="28187" y="59801"/>
                  </a:lnTo>
                  <a:lnTo>
                    <a:pt x="7447" y="99893"/>
                  </a:lnTo>
                  <a:lnTo>
                    <a:pt x="0" y="146050"/>
                  </a:lnTo>
                  <a:lnTo>
                    <a:pt x="0" y="1515109"/>
                  </a:lnTo>
                  <a:lnTo>
                    <a:pt x="7447" y="1561266"/>
                  </a:lnTo>
                  <a:lnTo>
                    <a:pt x="28187" y="1601358"/>
                  </a:lnTo>
                  <a:lnTo>
                    <a:pt x="59812" y="1632976"/>
                  </a:lnTo>
                  <a:lnTo>
                    <a:pt x="99919" y="1653712"/>
                  </a:lnTo>
                  <a:lnTo>
                    <a:pt x="146100" y="1661159"/>
                  </a:lnTo>
                  <a:lnTo>
                    <a:pt x="7461758" y="1661159"/>
                  </a:lnTo>
                  <a:lnTo>
                    <a:pt x="7507914" y="1653712"/>
                  </a:lnTo>
                  <a:lnTo>
                    <a:pt x="7548006" y="1632976"/>
                  </a:lnTo>
                  <a:lnTo>
                    <a:pt x="7579624" y="1601358"/>
                  </a:lnTo>
                  <a:lnTo>
                    <a:pt x="7600360" y="1561266"/>
                  </a:lnTo>
                  <a:lnTo>
                    <a:pt x="7607808" y="1515109"/>
                  </a:lnTo>
                  <a:lnTo>
                    <a:pt x="7607808" y="146050"/>
                  </a:lnTo>
                  <a:lnTo>
                    <a:pt x="7600360" y="99893"/>
                  </a:lnTo>
                  <a:lnTo>
                    <a:pt x="7579624" y="59801"/>
                  </a:lnTo>
                  <a:lnTo>
                    <a:pt x="7548006" y="28183"/>
                  </a:lnTo>
                  <a:lnTo>
                    <a:pt x="7507914" y="7447"/>
                  </a:lnTo>
                  <a:lnTo>
                    <a:pt x="7461758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8096" y="1911095"/>
              <a:ext cx="7607934" cy="1661160"/>
            </a:xfrm>
            <a:custGeom>
              <a:avLst/>
              <a:gdLst/>
              <a:ahLst/>
              <a:cxnLst/>
              <a:rect l="l" t="t" r="r" b="b"/>
              <a:pathLst>
                <a:path w="7607934" h="1661160">
                  <a:moveTo>
                    <a:pt x="0" y="146050"/>
                  </a:moveTo>
                  <a:lnTo>
                    <a:pt x="7447" y="99893"/>
                  </a:lnTo>
                  <a:lnTo>
                    <a:pt x="28187" y="59801"/>
                  </a:lnTo>
                  <a:lnTo>
                    <a:pt x="59812" y="28183"/>
                  </a:lnTo>
                  <a:lnTo>
                    <a:pt x="99919" y="7447"/>
                  </a:lnTo>
                  <a:lnTo>
                    <a:pt x="146100" y="0"/>
                  </a:lnTo>
                  <a:lnTo>
                    <a:pt x="7461758" y="0"/>
                  </a:lnTo>
                  <a:lnTo>
                    <a:pt x="7507914" y="7447"/>
                  </a:lnTo>
                  <a:lnTo>
                    <a:pt x="7548006" y="28183"/>
                  </a:lnTo>
                  <a:lnTo>
                    <a:pt x="7579624" y="59801"/>
                  </a:lnTo>
                  <a:lnTo>
                    <a:pt x="7600360" y="99893"/>
                  </a:lnTo>
                  <a:lnTo>
                    <a:pt x="7607808" y="146050"/>
                  </a:lnTo>
                  <a:lnTo>
                    <a:pt x="7607808" y="1515109"/>
                  </a:lnTo>
                  <a:lnTo>
                    <a:pt x="7600360" y="1561266"/>
                  </a:lnTo>
                  <a:lnTo>
                    <a:pt x="7579624" y="1601358"/>
                  </a:lnTo>
                  <a:lnTo>
                    <a:pt x="7548006" y="1632976"/>
                  </a:lnTo>
                  <a:lnTo>
                    <a:pt x="7507914" y="1653712"/>
                  </a:lnTo>
                  <a:lnTo>
                    <a:pt x="7461758" y="1661159"/>
                  </a:lnTo>
                  <a:lnTo>
                    <a:pt x="146100" y="1661159"/>
                  </a:lnTo>
                  <a:lnTo>
                    <a:pt x="99919" y="1653712"/>
                  </a:lnTo>
                  <a:lnTo>
                    <a:pt x="59812" y="1632976"/>
                  </a:lnTo>
                  <a:lnTo>
                    <a:pt x="28187" y="1601358"/>
                  </a:lnTo>
                  <a:lnTo>
                    <a:pt x="7447" y="1561266"/>
                  </a:lnTo>
                  <a:lnTo>
                    <a:pt x="0" y="1515109"/>
                  </a:lnTo>
                  <a:lnTo>
                    <a:pt x="0" y="146050"/>
                  </a:lnTo>
                  <a:close/>
                </a:path>
              </a:pathLst>
            </a:custGeom>
            <a:ln w="30479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37616" y="1911095"/>
              <a:ext cx="121920" cy="1661160"/>
            </a:xfrm>
            <a:custGeom>
              <a:avLst/>
              <a:gdLst/>
              <a:ahLst/>
              <a:cxnLst/>
              <a:rect l="l" t="t" r="r" b="b"/>
              <a:pathLst>
                <a:path w="121919" h="1661160">
                  <a:moveTo>
                    <a:pt x="60960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59"/>
                  </a:lnTo>
                  <a:lnTo>
                    <a:pt x="0" y="1600200"/>
                  </a:lnTo>
                  <a:lnTo>
                    <a:pt x="4790" y="1623923"/>
                  </a:lnTo>
                  <a:lnTo>
                    <a:pt x="17854" y="1643300"/>
                  </a:lnTo>
                  <a:lnTo>
                    <a:pt x="37231" y="1656367"/>
                  </a:lnTo>
                  <a:lnTo>
                    <a:pt x="60960" y="1661159"/>
                  </a:lnTo>
                  <a:lnTo>
                    <a:pt x="84688" y="1656367"/>
                  </a:lnTo>
                  <a:lnTo>
                    <a:pt x="104065" y="1643300"/>
                  </a:lnTo>
                  <a:lnTo>
                    <a:pt x="117129" y="1623923"/>
                  </a:lnTo>
                  <a:lnTo>
                    <a:pt x="121920" y="1600200"/>
                  </a:lnTo>
                  <a:lnTo>
                    <a:pt x="121920" y="60959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098296" y="2129485"/>
            <a:ext cx="6802120" cy="1159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404154"/>
                </a:solidFill>
                <a:latin typeface="Verdana"/>
                <a:cs typeface="Verdana"/>
              </a:rPr>
              <a:t>Fragmented</a:t>
            </a:r>
            <a:r>
              <a:rPr dirty="0" sz="2150" spc="-15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404154"/>
                </a:solidFill>
                <a:latin typeface="Verdana"/>
                <a:cs typeface="Verdana"/>
              </a:rPr>
              <a:t>Information</a:t>
            </a:r>
            <a:endParaRPr sz="2150">
              <a:latin typeface="Verdana"/>
              <a:cs typeface="Verdana"/>
            </a:endParaRPr>
          </a:p>
          <a:p>
            <a:pPr marL="12700" marR="5080">
              <a:lnSpc>
                <a:spcPct val="132900"/>
              </a:lnSpc>
              <a:spcBef>
                <a:spcPts val="910"/>
              </a:spcBef>
            </a:pP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Users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0">
                <a:solidFill>
                  <a:srgbClr val="404154"/>
                </a:solidFill>
                <a:latin typeface="Microsoft Sans Serif"/>
                <a:cs typeface="Microsoft Sans Serif"/>
              </a:rPr>
              <a:t>juggle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multiple</a:t>
            </a:r>
            <a:r>
              <a:rPr dirty="0" sz="1700" spc="-10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4"/>
                </a:solidFill>
                <a:latin typeface="Microsoft Sans Serif"/>
                <a:cs typeface="Microsoft Sans Serif"/>
              </a:rPr>
              <a:t>apps</a:t>
            </a:r>
            <a:r>
              <a:rPr dirty="0" sz="1700" spc="-11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404154"/>
                </a:solidFill>
                <a:latin typeface="Microsoft Sans Serif"/>
                <a:cs typeface="Microsoft Sans Serif"/>
              </a:rPr>
              <a:t>websites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75">
                <a:solidFill>
                  <a:srgbClr val="404154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5">
                <a:solidFill>
                  <a:srgbClr val="404154"/>
                </a:solidFill>
                <a:latin typeface="Microsoft Sans Serif"/>
                <a:cs typeface="Microsoft Sans Serif"/>
              </a:rPr>
              <a:t>get</a:t>
            </a:r>
            <a:r>
              <a:rPr dirty="0" sz="170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00" spc="-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404154"/>
                </a:solidFill>
                <a:latin typeface="Microsoft Sans Serif"/>
                <a:cs typeface="Microsoft Sans Serif"/>
              </a:rPr>
              <a:t>conditions, </a:t>
            </a:r>
            <a:r>
              <a:rPr dirty="0" sz="1700" spc="60">
                <a:solidFill>
                  <a:srgbClr val="404154"/>
                </a:solidFill>
                <a:latin typeface="Microsoft Sans Serif"/>
                <a:cs typeface="Microsoft Sans Serif"/>
              </a:rPr>
              <a:t>forecasts,</a:t>
            </a:r>
            <a:r>
              <a:rPr dirty="0" sz="170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5">
                <a:solidFill>
                  <a:srgbClr val="404154"/>
                </a:solidFill>
                <a:latin typeface="Microsoft Sans Serif"/>
                <a:cs typeface="Microsoft Sans Serif"/>
              </a:rPr>
              <a:t>location-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based</a:t>
            </a:r>
            <a:r>
              <a:rPr dirty="0" sz="170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4"/>
                </a:solidFill>
                <a:latin typeface="Microsoft Sans Serif"/>
                <a:cs typeface="Microsoft Sans Serif"/>
              </a:rPr>
              <a:t>—</a:t>
            </a:r>
            <a:r>
              <a:rPr dirty="0" sz="1700" spc="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5">
                <a:solidFill>
                  <a:srgbClr val="404154"/>
                </a:solidFill>
                <a:latin typeface="Microsoft Sans Serif"/>
                <a:cs typeface="Microsoft Sans Serif"/>
              </a:rPr>
              <a:t>no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single</a:t>
            </a:r>
            <a:r>
              <a:rPr dirty="0" sz="170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4"/>
                </a:solidFill>
                <a:latin typeface="Microsoft Sans Serif"/>
                <a:cs typeface="Microsoft Sans Serif"/>
              </a:rPr>
              <a:t>unified</a:t>
            </a:r>
            <a:r>
              <a:rPr dirty="0" sz="1700" spc="-10">
                <a:solidFill>
                  <a:srgbClr val="404154"/>
                </a:solidFill>
                <a:latin typeface="Microsoft Sans Serif"/>
                <a:cs typeface="Microsoft Sans Serif"/>
              </a:rPr>
              <a:t> experience.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7616" y="3770376"/>
            <a:ext cx="7653655" cy="1694814"/>
            <a:chOff x="737616" y="3770376"/>
            <a:chExt cx="7653655" cy="1694814"/>
          </a:xfrm>
        </p:grpSpPr>
        <p:sp>
          <p:nvSpPr>
            <p:cNvPr id="12" name="object 12"/>
            <p:cNvSpPr/>
            <p:nvPr/>
          </p:nvSpPr>
          <p:spPr>
            <a:xfrm>
              <a:off x="768096" y="3785616"/>
              <a:ext cx="7607934" cy="1664335"/>
            </a:xfrm>
            <a:custGeom>
              <a:avLst/>
              <a:gdLst/>
              <a:ahLst/>
              <a:cxnLst/>
              <a:rect l="l" t="t" r="r" b="b"/>
              <a:pathLst>
                <a:path w="7607934" h="1664335">
                  <a:moveTo>
                    <a:pt x="7461504" y="0"/>
                  </a:moveTo>
                  <a:lnTo>
                    <a:pt x="146367" y="0"/>
                  </a:lnTo>
                  <a:lnTo>
                    <a:pt x="100104" y="7461"/>
                  </a:lnTo>
                  <a:lnTo>
                    <a:pt x="59925" y="28236"/>
                  </a:lnTo>
                  <a:lnTo>
                    <a:pt x="28240" y="59911"/>
                  </a:lnTo>
                  <a:lnTo>
                    <a:pt x="7462" y="100071"/>
                  </a:lnTo>
                  <a:lnTo>
                    <a:pt x="0" y="146304"/>
                  </a:lnTo>
                  <a:lnTo>
                    <a:pt x="0" y="1517904"/>
                  </a:lnTo>
                  <a:lnTo>
                    <a:pt x="7462" y="1564136"/>
                  </a:lnTo>
                  <a:lnTo>
                    <a:pt x="28240" y="1604296"/>
                  </a:lnTo>
                  <a:lnTo>
                    <a:pt x="59925" y="1635971"/>
                  </a:lnTo>
                  <a:lnTo>
                    <a:pt x="100104" y="1656746"/>
                  </a:lnTo>
                  <a:lnTo>
                    <a:pt x="146367" y="1664208"/>
                  </a:lnTo>
                  <a:lnTo>
                    <a:pt x="7461504" y="1664208"/>
                  </a:lnTo>
                  <a:lnTo>
                    <a:pt x="7507736" y="1656746"/>
                  </a:lnTo>
                  <a:lnTo>
                    <a:pt x="7547896" y="1635971"/>
                  </a:lnTo>
                  <a:lnTo>
                    <a:pt x="7579571" y="1604296"/>
                  </a:lnTo>
                  <a:lnTo>
                    <a:pt x="7600346" y="1564136"/>
                  </a:lnTo>
                  <a:lnTo>
                    <a:pt x="7607808" y="1517904"/>
                  </a:lnTo>
                  <a:lnTo>
                    <a:pt x="7607808" y="146304"/>
                  </a:lnTo>
                  <a:lnTo>
                    <a:pt x="7600346" y="100071"/>
                  </a:lnTo>
                  <a:lnTo>
                    <a:pt x="7579571" y="59911"/>
                  </a:lnTo>
                  <a:lnTo>
                    <a:pt x="7547896" y="28236"/>
                  </a:lnTo>
                  <a:lnTo>
                    <a:pt x="7507736" y="7461"/>
                  </a:lnTo>
                  <a:lnTo>
                    <a:pt x="7461504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8096" y="3785616"/>
              <a:ext cx="7607934" cy="1664335"/>
            </a:xfrm>
            <a:custGeom>
              <a:avLst/>
              <a:gdLst/>
              <a:ahLst/>
              <a:cxnLst/>
              <a:rect l="l" t="t" r="r" b="b"/>
              <a:pathLst>
                <a:path w="7607934" h="1664335">
                  <a:moveTo>
                    <a:pt x="0" y="146304"/>
                  </a:moveTo>
                  <a:lnTo>
                    <a:pt x="7462" y="100071"/>
                  </a:lnTo>
                  <a:lnTo>
                    <a:pt x="28240" y="59911"/>
                  </a:lnTo>
                  <a:lnTo>
                    <a:pt x="59925" y="28236"/>
                  </a:lnTo>
                  <a:lnTo>
                    <a:pt x="100104" y="7461"/>
                  </a:lnTo>
                  <a:lnTo>
                    <a:pt x="146367" y="0"/>
                  </a:lnTo>
                  <a:lnTo>
                    <a:pt x="7461504" y="0"/>
                  </a:lnTo>
                  <a:lnTo>
                    <a:pt x="7507736" y="7461"/>
                  </a:lnTo>
                  <a:lnTo>
                    <a:pt x="7547896" y="28236"/>
                  </a:lnTo>
                  <a:lnTo>
                    <a:pt x="7579571" y="59911"/>
                  </a:lnTo>
                  <a:lnTo>
                    <a:pt x="7600346" y="100071"/>
                  </a:lnTo>
                  <a:lnTo>
                    <a:pt x="7607808" y="146304"/>
                  </a:lnTo>
                  <a:lnTo>
                    <a:pt x="7607808" y="1517904"/>
                  </a:lnTo>
                  <a:lnTo>
                    <a:pt x="7600346" y="1564136"/>
                  </a:lnTo>
                  <a:lnTo>
                    <a:pt x="7579571" y="1604296"/>
                  </a:lnTo>
                  <a:lnTo>
                    <a:pt x="7547896" y="1635971"/>
                  </a:lnTo>
                  <a:lnTo>
                    <a:pt x="7507736" y="1656746"/>
                  </a:lnTo>
                  <a:lnTo>
                    <a:pt x="7461504" y="1664208"/>
                  </a:lnTo>
                  <a:lnTo>
                    <a:pt x="146367" y="1664208"/>
                  </a:lnTo>
                  <a:lnTo>
                    <a:pt x="100104" y="1656746"/>
                  </a:lnTo>
                  <a:lnTo>
                    <a:pt x="59925" y="1635971"/>
                  </a:lnTo>
                  <a:lnTo>
                    <a:pt x="28240" y="1604296"/>
                  </a:lnTo>
                  <a:lnTo>
                    <a:pt x="7462" y="1564136"/>
                  </a:lnTo>
                  <a:lnTo>
                    <a:pt x="0" y="1517904"/>
                  </a:lnTo>
                  <a:lnTo>
                    <a:pt x="0" y="146304"/>
                  </a:lnTo>
                  <a:close/>
                </a:path>
              </a:pathLst>
            </a:custGeom>
            <a:ln w="30480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7616" y="3785616"/>
              <a:ext cx="121920" cy="1664335"/>
            </a:xfrm>
            <a:custGeom>
              <a:avLst/>
              <a:gdLst/>
              <a:ahLst/>
              <a:cxnLst/>
              <a:rect l="l" t="t" r="r" b="b"/>
              <a:pathLst>
                <a:path w="121919" h="1664335">
                  <a:moveTo>
                    <a:pt x="60960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1603248"/>
                  </a:lnTo>
                  <a:lnTo>
                    <a:pt x="4790" y="1626971"/>
                  </a:lnTo>
                  <a:lnTo>
                    <a:pt x="17854" y="1646348"/>
                  </a:lnTo>
                  <a:lnTo>
                    <a:pt x="37231" y="1659415"/>
                  </a:lnTo>
                  <a:lnTo>
                    <a:pt x="60960" y="1664208"/>
                  </a:lnTo>
                  <a:lnTo>
                    <a:pt x="84688" y="1659415"/>
                  </a:lnTo>
                  <a:lnTo>
                    <a:pt x="104065" y="1646348"/>
                  </a:lnTo>
                  <a:lnTo>
                    <a:pt x="117129" y="1626971"/>
                  </a:lnTo>
                  <a:lnTo>
                    <a:pt x="121920" y="1603248"/>
                  </a:lnTo>
                  <a:lnTo>
                    <a:pt x="121920" y="60960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098296" y="4006722"/>
            <a:ext cx="6575425" cy="1158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60">
                <a:solidFill>
                  <a:srgbClr val="404154"/>
                </a:solidFill>
                <a:latin typeface="Verdana"/>
                <a:cs typeface="Verdana"/>
              </a:rPr>
              <a:t>No</a:t>
            </a:r>
            <a:r>
              <a:rPr dirty="0" sz="2150" spc="-65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 spc="-35">
                <a:solidFill>
                  <a:srgbClr val="404154"/>
                </a:solidFill>
                <a:latin typeface="Verdana"/>
                <a:cs typeface="Verdana"/>
              </a:rPr>
              <a:t>Real-</a:t>
            </a:r>
            <a:r>
              <a:rPr dirty="0" sz="2150">
                <a:solidFill>
                  <a:srgbClr val="404154"/>
                </a:solidFill>
                <a:latin typeface="Verdana"/>
                <a:cs typeface="Verdana"/>
              </a:rPr>
              <a:t>Time</a:t>
            </a:r>
            <a:r>
              <a:rPr dirty="0" sz="2150" spc="-130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404154"/>
                </a:solidFill>
                <a:latin typeface="Verdana"/>
                <a:cs typeface="Verdana"/>
              </a:rPr>
              <a:t>Location</a:t>
            </a:r>
            <a:r>
              <a:rPr dirty="0" sz="2150" spc="-135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404154"/>
                </a:solidFill>
                <a:latin typeface="Verdana"/>
                <a:cs typeface="Verdana"/>
              </a:rPr>
              <a:t>Awareness</a:t>
            </a:r>
            <a:endParaRPr sz="2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1700" spc="114">
                <a:solidFill>
                  <a:srgbClr val="404154"/>
                </a:solidFill>
                <a:latin typeface="Microsoft Sans Serif"/>
                <a:cs typeface="Microsoft Sans Serif"/>
              </a:rPr>
              <a:t>Most</a:t>
            </a:r>
            <a:r>
              <a:rPr dirty="0" sz="170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basic</a:t>
            </a:r>
            <a:r>
              <a:rPr dirty="0" sz="170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weather</a:t>
            </a:r>
            <a:r>
              <a:rPr dirty="0" sz="1700" spc="-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tools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404154"/>
                </a:solidFill>
                <a:latin typeface="Microsoft Sans Serif"/>
                <a:cs typeface="Microsoft Sans Serif"/>
              </a:rPr>
              <a:t>require</a:t>
            </a:r>
            <a:r>
              <a:rPr dirty="0" sz="1700" spc="-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0">
                <a:solidFill>
                  <a:srgbClr val="404154"/>
                </a:solidFill>
                <a:latin typeface="Microsoft Sans Serif"/>
                <a:cs typeface="Microsoft Sans Serif"/>
              </a:rPr>
              <a:t>city</a:t>
            </a:r>
            <a:r>
              <a:rPr dirty="0" sz="170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input,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45">
                <a:solidFill>
                  <a:srgbClr val="404154"/>
                </a:solidFill>
                <a:latin typeface="Microsoft Sans Serif"/>
                <a:cs typeface="Microsoft Sans Serif"/>
              </a:rPr>
              <a:t>missing</a:t>
            </a:r>
            <a:r>
              <a:rPr dirty="0" sz="1700" spc="2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0">
                <a:solidFill>
                  <a:srgbClr val="404154"/>
                </a:solidFill>
                <a:latin typeface="Microsoft Sans Serif"/>
                <a:cs typeface="Microsoft Sans Serif"/>
              </a:rPr>
              <a:t>the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110">
                <a:solidFill>
                  <a:srgbClr val="404154"/>
                </a:solidFill>
                <a:latin typeface="Microsoft Sans Serif"/>
                <a:cs typeface="Microsoft Sans Serif"/>
              </a:rPr>
              <a:t>opportunity</a:t>
            </a:r>
            <a:r>
              <a:rPr dirty="0" sz="1700" spc="-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75">
                <a:solidFill>
                  <a:srgbClr val="404154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50">
                <a:solidFill>
                  <a:srgbClr val="404154"/>
                </a:solidFill>
                <a:latin typeface="Microsoft Sans Serif"/>
                <a:cs typeface="Microsoft Sans Serif"/>
              </a:rPr>
              <a:t>auto-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detect</a:t>
            </a:r>
            <a:r>
              <a:rPr dirty="0" sz="1700" spc="-6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serve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hyperlocal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4"/>
                </a:solidFill>
                <a:latin typeface="Microsoft Sans Serif"/>
                <a:cs typeface="Microsoft Sans Serif"/>
              </a:rPr>
              <a:t>instantly.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7616" y="5647944"/>
            <a:ext cx="7653655" cy="1691639"/>
            <a:chOff x="737616" y="5647944"/>
            <a:chExt cx="7653655" cy="1691639"/>
          </a:xfrm>
        </p:grpSpPr>
        <p:sp>
          <p:nvSpPr>
            <p:cNvPr id="17" name="object 17"/>
            <p:cNvSpPr/>
            <p:nvPr/>
          </p:nvSpPr>
          <p:spPr>
            <a:xfrm>
              <a:off x="768096" y="5663184"/>
              <a:ext cx="7607934" cy="1661160"/>
            </a:xfrm>
            <a:custGeom>
              <a:avLst/>
              <a:gdLst/>
              <a:ahLst/>
              <a:cxnLst/>
              <a:rect l="l" t="t" r="r" b="b"/>
              <a:pathLst>
                <a:path w="7607934" h="1661159">
                  <a:moveTo>
                    <a:pt x="7461758" y="0"/>
                  </a:moveTo>
                  <a:lnTo>
                    <a:pt x="146100" y="0"/>
                  </a:lnTo>
                  <a:lnTo>
                    <a:pt x="99919" y="7447"/>
                  </a:lnTo>
                  <a:lnTo>
                    <a:pt x="59812" y="28183"/>
                  </a:lnTo>
                  <a:lnTo>
                    <a:pt x="28187" y="59801"/>
                  </a:lnTo>
                  <a:lnTo>
                    <a:pt x="7447" y="99893"/>
                  </a:lnTo>
                  <a:lnTo>
                    <a:pt x="0" y="146050"/>
                  </a:lnTo>
                  <a:lnTo>
                    <a:pt x="0" y="1515059"/>
                  </a:lnTo>
                  <a:lnTo>
                    <a:pt x="7447" y="1561240"/>
                  </a:lnTo>
                  <a:lnTo>
                    <a:pt x="28187" y="1601347"/>
                  </a:lnTo>
                  <a:lnTo>
                    <a:pt x="59812" y="1632972"/>
                  </a:lnTo>
                  <a:lnTo>
                    <a:pt x="99919" y="1653712"/>
                  </a:lnTo>
                  <a:lnTo>
                    <a:pt x="146100" y="1661160"/>
                  </a:lnTo>
                  <a:lnTo>
                    <a:pt x="7461758" y="1661160"/>
                  </a:lnTo>
                  <a:lnTo>
                    <a:pt x="7507914" y="1653712"/>
                  </a:lnTo>
                  <a:lnTo>
                    <a:pt x="7548006" y="1632972"/>
                  </a:lnTo>
                  <a:lnTo>
                    <a:pt x="7579624" y="1601347"/>
                  </a:lnTo>
                  <a:lnTo>
                    <a:pt x="7600360" y="1561240"/>
                  </a:lnTo>
                  <a:lnTo>
                    <a:pt x="7607808" y="1515059"/>
                  </a:lnTo>
                  <a:lnTo>
                    <a:pt x="7607808" y="146050"/>
                  </a:lnTo>
                  <a:lnTo>
                    <a:pt x="7600360" y="99893"/>
                  </a:lnTo>
                  <a:lnTo>
                    <a:pt x="7579624" y="59801"/>
                  </a:lnTo>
                  <a:lnTo>
                    <a:pt x="7548006" y="28183"/>
                  </a:lnTo>
                  <a:lnTo>
                    <a:pt x="7507914" y="7447"/>
                  </a:lnTo>
                  <a:lnTo>
                    <a:pt x="7461758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68096" y="5663184"/>
              <a:ext cx="7607934" cy="1661160"/>
            </a:xfrm>
            <a:custGeom>
              <a:avLst/>
              <a:gdLst/>
              <a:ahLst/>
              <a:cxnLst/>
              <a:rect l="l" t="t" r="r" b="b"/>
              <a:pathLst>
                <a:path w="7607934" h="1661159">
                  <a:moveTo>
                    <a:pt x="0" y="146050"/>
                  </a:moveTo>
                  <a:lnTo>
                    <a:pt x="7447" y="99893"/>
                  </a:lnTo>
                  <a:lnTo>
                    <a:pt x="28187" y="59801"/>
                  </a:lnTo>
                  <a:lnTo>
                    <a:pt x="59812" y="28183"/>
                  </a:lnTo>
                  <a:lnTo>
                    <a:pt x="99919" y="7447"/>
                  </a:lnTo>
                  <a:lnTo>
                    <a:pt x="146100" y="0"/>
                  </a:lnTo>
                  <a:lnTo>
                    <a:pt x="7461758" y="0"/>
                  </a:lnTo>
                  <a:lnTo>
                    <a:pt x="7507914" y="7447"/>
                  </a:lnTo>
                  <a:lnTo>
                    <a:pt x="7548006" y="28183"/>
                  </a:lnTo>
                  <a:lnTo>
                    <a:pt x="7579624" y="59801"/>
                  </a:lnTo>
                  <a:lnTo>
                    <a:pt x="7600360" y="99893"/>
                  </a:lnTo>
                  <a:lnTo>
                    <a:pt x="7607808" y="146050"/>
                  </a:lnTo>
                  <a:lnTo>
                    <a:pt x="7607808" y="1515059"/>
                  </a:lnTo>
                  <a:lnTo>
                    <a:pt x="7600360" y="1561240"/>
                  </a:lnTo>
                  <a:lnTo>
                    <a:pt x="7579624" y="1601347"/>
                  </a:lnTo>
                  <a:lnTo>
                    <a:pt x="7548006" y="1632972"/>
                  </a:lnTo>
                  <a:lnTo>
                    <a:pt x="7507914" y="1653712"/>
                  </a:lnTo>
                  <a:lnTo>
                    <a:pt x="7461758" y="1661160"/>
                  </a:lnTo>
                  <a:lnTo>
                    <a:pt x="146100" y="1661160"/>
                  </a:lnTo>
                  <a:lnTo>
                    <a:pt x="99919" y="1653712"/>
                  </a:lnTo>
                  <a:lnTo>
                    <a:pt x="59812" y="1632972"/>
                  </a:lnTo>
                  <a:lnTo>
                    <a:pt x="28187" y="1601347"/>
                  </a:lnTo>
                  <a:lnTo>
                    <a:pt x="7447" y="1561240"/>
                  </a:lnTo>
                  <a:lnTo>
                    <a:pt x="0" y="1515059"/>
                  </a:lnTo>
                  <a:lnTo>
                    <a:pt x="0" y="146050"/>
                  </a:lnTo>
                  <a:close/>
                </a:path>
              </a:pathLst>
            </a:custGeom>
            <a:ln w="30480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7616" y="5663184"/>
              <a:ext cx="121920" cy="1661160"/>
            </a:xfrm>
            <a:custGeom>
              <a:avLst/>
              <a:gdLst/>
              <a:ahLst/>
              <a:cxnLst/>
              <a:rect l="l" t="t" r="r" b="b"/>
              <a:pathLst>
                <a:path w="121919" h="1661159">
                  <a:moveTo>
                    <a:pt x="60960" y="0"/>
                  </a:moveTo>
                  <a:lnTo>
                    <a:pt x="37231" y="4792"/>
                  </a:lnTo>
                  <a:lnTo>
                    <a:pt x="17854" y="17859"/>
                  </a:lnTo>
                  <a:lnTo>
                    <a:pt x="4790" y="37236"/>
                  </a:lnTo>
                  <a:lnTo>
                    <a:pt x="0" y="60960"/>
                  </a:lnTo>
                  <a:lnTo>
                    <a:pt x="0" y="1600200"/>
                  </a:lnTo>
                  <a:lnTo>
                    <a:pt x="4790" y="1623928"/>
                  </a:lnTo>
                  <a:lnTo>
                    <a:pt x="17854" y="1643305"/>
                  </a:lnTo>
                  <a:lnTo>
                    <a:pt x="37231" y="1656369"/>
                  </a:lnTo>
                  <a:lnTo>
                    <a:pt x="60960" y="1661160"/>
                  </a:lnTo>
                  <a:lnTo>
                    <a:pt x="84688" y="1656369"/>
                  </a:lnTo>
                  <a:lnTo>
                    <a:pt x="104065" y="1643305"/>
                  </a:lnTo>
                  <a:lnTo>
                    <a:pt x="117129" y="1623928"/>
                  </a:lnTo>
                  <a:lnTo>
                    <a:pt x="121920" y="1600200"/>
                  </a:lnTo>
                  <a:lnTo>
                    <a:pt x="121920" y="60960"/>
                  </a:lnTo>
                  <a:lnTo>
                    <a:pt x="117129" y="37236"/>
                  </a:lnTo>
                  <a:lnTo>
                    <a:pt x="104065" y="17859"/>
                  </a:lnTo>
                  <a:lnTo>
                    <a:pt x="84688" y="479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098296" y="5883655"/>
            <a:ext cx="6863715" cy="1158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>
                <a:solidFill>
                  <a:srgbClr val="404154"/>
                </a:solidFill>
                <a:latin typeface="Verdana"/>
                <a:cs typeface="Verdana"/>
              </a:rPr>
              <a:t>Lack</a:t>
            </a:r>
            <a:r>
              <a:rPr dirty="0" sz="2150" spc="-195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404154"/>
                </a:solidFill>
                <a:latin typeface="Verdana"/>
                <a:cs typeface="Verdana"/>
              </a:rPr>
              <a:t>of</a:t>
            </a:r>
            <a:r>
              <a:rPr dirty="0" sz="2150" spc="-155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404154"/>
                </a:solidFill>
                <a:latin typeface="Verdana"/>
                <a:cs typeface="Verdana"/>
              </a:rPr>
              <a:t>Visual</a:t>
            </a:r>
            <a:r>
              <a:rPr dirty="0" sz="2150" spc="-190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404154"/>
                </a:solidFill>
                <a:latin typeface="Verdana"/>
                <a:cs typeface="Verdana"/>
              </a:rPr>
              <a:t>Context</a:t>
            </a:r>
            <a:endParaRPr sz="21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900"/>
              </a:spcBef>
            </a:pP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Raw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4"/>
                </a:solidFill>
                <a:latin typeface="Microsoft Sans Serif"/>
                <a:cs typeface="Microsoft Sans Serif"/>
              </a:rPr>
              <a:t>numbers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30">
                <a:solidFill>
                  <a:srgbClr val="40415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charts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10">
                <a:solidFill>
                  <a:srgbClr val="404154"/>
                </a:solidFill>
                <a:latin typeface="Microsoft Sans Serif"/>
                <a:cs typeface="Microsoft Sans Serif"/>
              </a:rPr>
              <a:t>or</a:t>
            </a:r>
            <a:r>
              <a:rPr dirty="0" sz="170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maps</a:t>
            </a:r>
            <a:r>
              <a:rPr dirty="0" sz="1700" spc="-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14">
                <a:solidFill>
                  <a:srgbClr val="404154"/>
                </a:solidFill>
                <a:latin typeface="Microsoft Sans Serif"/>
                <a:cs typeface="Microsoft Sans Serif"/>
              </a:rPr>
              <a:t>make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4"/>
                </a:solidFill>
                <a:latin typeface="Microsoft Sans Serif"/>
                <a:cs typeface="Microsoft Sans Serif"/>
              </a:rPr>
              <a:t>it</a:t>
            </a:r>
            <a:r>
              <a:rPr dirty="0" sz="170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hard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75">
                <a:solidFill>
                  <a:srgbClr val="404154"/>
                </a:solidFill>
                <a:latin typeface="Microsoft Sans Serif"/>
                <a:cs typeface="Microsoft Sans Serif"/>
              </a:rPr>
              <a:t>to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4"/>
                </a:solidFill>
                <a:latin typeface="Microsoft Sans Serif"/>
                <a:cs typeface="Microsoft Sans Serif"/>
              </a:rPr>
              <a:t>understand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trends,</a:t>
            </a:r>
            <a:r>
              <a:rPr dirty="0" sz="1700" spc="-3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temperature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404154"/>
                </a:solidFill>
                <a:latin typeface="Microsoft Sans Serif"/>
                <a:cs typeface="Microsoft Sans Serif"/>
              </a:rPr>
              <a:t>patterns,</a:t>
            </a:r>
            <a:r>
              <a:rPr dirty="0" sz="1700" spc="-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geographic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10">
                <a:solidFill>
                  <a:srgbClr val="404154"/>
                </a:solidFill>
                <a:latin typeface="Microsoft Sans Serif"/>
                <a:cs typeface="Microsoft Sans Serif"/>
              </a:rPr>
              <a:t>context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55">
                <a:solidFill>
                  <a:srgbClr val="404154"/>
                </a:solidFill>
                <a:latin typeface="Microsoft Sans Serif"/>
                <a:cs typeface="Microsoft Sans Serif"/>
              </a:rPr>
              <a:t>at</a:t>
            </a:r>
            <a:r>
              <a:rPr dirty="0" sz="170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35">
                <a:solidFill>
                  <a:srgbClr val="404154"/>
                </a:solidFill>
                <a:latin typeface="Microsoft Sans Serif"/>
                <a:cs typeface="Microsoft Sans Serif"/>
              </a:rPr>
              <a:t>glance.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072" y="1545335"/>
            <a:ext cx="8107680" cy="45933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175" y="6480048"/>
            <a:ext cx="274319" cy="277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7903" y="6480048"/>
            <a:ext cx="274320" cy="277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8631" y="6480048"/>
            <a:ext cx="277368" cy="27736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654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Project</a:t>
            </a:r>
            <a:r>
              <a:rPr dirty="0" sz="3600" spc="-250"/>
              <a:t> </a:t>
            </a:r>
            <a:r>
              <a:rPr dirty="0" sz="3600" spc="-10"/>
              <a:t>Objective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9511665" y="3267135"/>
            <a:ext cx="4137025" cy="1090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500"/>
              </a:lnSpc>
              <a:spcBef>
                <a:spcPts val="95"/>
              </a:spcBef>
            </a:pPr>
            <a:r>
              <a:rPr dirty="0" sz="1450" spc="45">
                <a:solidFill>
                  <a:srgbClr val="404155"/>
                </a:solidFill>
                <a:latin typeface="Microsoft Sans Serif"/>
                <a:cs typeface="Microsoft Sans Serif"/>
              </a:rPr>
              <a:t>Skycast</a:t>
            </a:r>
            <a:r>
              <a:rPr dirty="0" sz="1450" spc="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is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designed</a:t>
            </a:r>
            <a:r>
              <a:rPr dirty="0" sz="1450" spc="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35">
                <a:solidFill>
                  <a:srgbClr val="404155"/>
                </a:solidFill>
                <a:latin typeface="Microsoft Sans Serif"/>
                <a:cs typeface="Microsoft Sans Serif"/>
              </a:rPr>
              <a:t>to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be</a:t>
            </a:r>
            <a:r>
              <a:rPr dirty="0" sz="14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450" spc="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50" b="1">
                <a:solidFill>
                  <a:srgbClr val="404155"/>
                </a:solidFill>
                <a:latin typeface="Arial"/>
                <a:cs typeface="Arial"/>
              </a:rPr>
              <a:t>single,</a:t>
            </a:r>
            <a:r>
              <a:rPr dirty="0" sz="1450" spc="-90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404155"/>
                </a:solidFill>
                <a:latin typeface="Arial"/>
                <a:cs typeface="Arial"/>
              </a:rPr>
              <a:t>intuitive</a:t>
            </a:r>
            <a:r>
              <a:rPr dirty="0" sz="1450" spc="-90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404155"/>
                </a:solidFill>
                <a:latin typeface="Arial"/>
                <a:cs typeface="Arial"/>
              </a:rPr>
              <a:t>web </a:t>
            </a:r>
            <a:r>
              <a:rPr dirty="0" sz="1450" spc="-10" b="1">
                <a:solidFill>
                  <a:srgbClr val="404155"/>
                </a:solidFill>
                <a:latin typeface="Arial"/>
                <a:cs typeface="Arial"/>
              </a:rPr>
              <a:t>application</a:t>
            </a:r>
            <a:r>
              <a:rPr dirty="0" sz="1450" spc="-70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450" spc="130">
                <a:solidFill>
                  <a:srgbClr val="404155"/>
                </a:solidFill>
                <a:latin typeface="Microsoft Sans Serif"/>
                <a:cs typeface="Microsoft Sans Serif"/>
              </a:rPr>
              <a:t>that</a:t>
            </a:r>
            <a:r>
              <a:rPr dirty="0" sz="14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45">
                <a:solidFill>
                  <a:srgbClr val="404155"/>
                </a:solidFill>
                <a:latin typeface="Microsoft Sans Serif"/>
                <a:cs typeface="Microsoft Sans Serif"/>
              </a:rPr>
              <a:t>consolidates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 all</a:t>
            </a:r>
            <a:r>
              <a:rPr dirty="0" sz="1450" spc="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5"/>
                </a:solidFill>
                <a:latin typeface="Microsoft Sans Serif"/>
                <a:cs typeface="Microsoft Sans Serif"/>
              </a:rPr>
              <a:t>essential </a:t>
            </a:r>
            <a:r>
              <a:rPr dirty="0" sz="1450" spc="60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4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95">
                <a:solidFill>
                  <a:srgbClr val="404155"/>
                </a:solidFill>
                <a:latin typeface="Microsoft Sans Serif"/>
                <a:cs typeface="Microsoft Sans Serif"/>
              </a:rPr>
              <a:t>information</a:t>
            </a:r>
            <a:r>
              <a:rPr dirty="0" sz="14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90">
                <a:solidFill>
                  <a:srgbClr val="404155"/>
                </a:solidFill>
                <a:latin typeface="Microsoft Sans Serif"/>
                <a:cs typeface="Microsoft Sans Serif"/>
              </a:rPr>
              <a:t>into</a:t>
            </a:r>
            <a:r>
              <a:rPr dirty="0" sz="14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one</a:t>
            </a:r>
            <a:r>
              <a:rPr dirty="0" sz="14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5"/>
                </a:solidFill>
                <a:latin typeface="Microsoft Sans Serif"/>
                <a:cs typeface="Microsoft Sans Serif"/>
              </a:rPr>
              <a:t>cohesive experience.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3303" y="6455791"/>
            <a:ext cx="3435350" cy="915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404155"/>
                </a:solidFill>
                <a:latin typeface="Verdana"/>
                <a:cs typeface="Verdana"/>
              </a:rPr>
              <a:t>Instant</a:t>
            </a:r>
            <a:r>
              <a:rPr dirty="0" sz="1800" spc="-16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04155"/>
                </a:solidFill>
                <a:latin typeface="Verdana"/>
                <a:cs typeface="Verdana"/>
              </a:rPr>
              <a:t>Access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20000"/>
              </a:lnSpc>
              <a:spcBef>
                <a:spcPts val="670"/>
              </a:spcBef>
            </a:pPr>
            <a:r>
              <a:rPr dirty="0" sz="1450" spc="120">
                <a:solidFill>
                  <a:srgbClr val="404155"/>
                </a:solidFill>
                <a:latin typeface="Microsoft Sans Serif"/>
                <a:cs typeface="Microsoft Sans Serif"/>
              </a:rPr>
              <a:t>Auto-</a:t>
            </a: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detect</a:t>
            </a:r>
            <a:r>
              <a:rPr dirty="0" sz="14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user</a:t>
            </a:r>
            <a:r>
              <a:rPr dirty="0" sz="145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4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4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-10">
                <a:solidFill>
                  <a:srgbClr val="404155"/>
                </a:solidFill>
                <a:latin typeface="Microsoft Sans Serif"/>
                <a:cs typeface="Microsoft Sans Serif"/>
              </a:rPr>
              <a:t>display </a:t>
            </a: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current</a:t>
            </a:r>
            <a:r>
              <a:rPr dirty="0" sz="14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0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4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10">
                <a:solidFill>
                  <a:srgbClr val="404155"/>
                </a:solidFill>
                <a:latin typeface="Microsoft Sans Serif"/>
                <a:cs typeface="Microsoft Sans Serif"/>
              </a:rPr>
              <a:t>without</a:t>
            </a:r>
            <a:r>
              <a:rPr dirty="0" sz="14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5"/>
                </a:solidFill>
                <a:latin typeface="Microsoft Sans Serif"/>
                <a:cs typeface="Microsoft Sans Serif"/>
              </a:rPr>
              <a:t>manual</a:t>
            </a:r>
            <a:r>
              <a:rPr dirty="0" sz="14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5"/>
                </a:solidFill>
                <a:latin typeface="Microsoft Sans Serif"/>
                <a:cs typeface="Microsoft Sans Serif"/>
              </a:rPr>
              <a:t>input.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5302" y="6455791"/>
            <a:ext cx="3531235" cy="118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04155"/>
                </a:solidFill>
                <a:latin typeface="Verdana"/>
                <a:cs typeface="Verdana"/>
              </a:rPr>
              <a:t>Visual</a:t>
            </a:r>
            <a:r>
              <a:rPr dirty="0" sz="1800" spc="-14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04155"/>
                </a:solidFill>
                <a:latin typeface="Verdana"/>
                <a:cs typeface="Verdana"/>
              </a:rPr>
              <a:t>Forecasting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20700"/>
              </a:lnSpc>
              <a:spcBef>
                <a:spcPts val="660"/>
              </a:spcBef>
            </a:pP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Present</a:t>
            </a:r>
            <a:r>
              <a:rPr dirty="0" sz="1450" spc="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5">
                <a:solidFill>
                  <a:srgbClr val="404155"/>
                </a:solidFill>
                <a:latin typeface="Microsoft Sans Serif"/>
                <a:cs typeface="Microsoft Sans Serif"/>
              </a:rPr>
              <a:t>7-</a:t>
            </a:r>
            <a:r>
              <a:rPr dirty="0" sz="1450" spc="55">
                <a:solidFill>
                  <a:srgbClr val="404155"/>
                </a:solidFill>
                <a:latin typeface="Microsoft Sans Serif"/>
                <a:cs typeface="Microsoft Sans Serif"/>
              </a:rPr>
              <a:t>day</a:t>
            </a:r>
            <a:r>
              <a:rPr dirty="0" sz="1450" spc="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5"/>
                </a:solidFill>
                <a:latin typeface="Microsoft Sans Serif"/>
                <a:cs typeface="Microsoft Sans Serif"/>
              </a:rPr>
              <a:t>forecasts</a:t>
            </a:r>
            <a:r>
              <a:rPr dirty="0" sz="1450" spc="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0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interactive </a:t>
            </a:r>
            <a:r>
              <a:rPr dirty="0" sz="1450" spc="75">
                <a:solidFill>
                  <a:srgbClr val="404155"/>
                </a:solidFill>
                <a:latin typeface="Microsoft Sans Serif"/>
                <a:cs typeface="Microsoft Sans Serif"/>
              </a:rPr>
              <a:t>temperature</a:t>
            </a:r>
            <a:r>
              <a:rPr dirty="0" sz="145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65">
                <a:solidFill>
                  <a:srgbClr val="404155"/>
                </a:solidFill>
                <a:latin typeface="Microsoft Sans Serif"/>
                <a:cs typeface="Microsoft Sans Serif"/>
              </a:rPr>
              <a:t>charts</a:t>
            </a:r>
            <a:r>
              <a:rPr dirty="0" sz="14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20">
                <a:solidFill>
                  <a:srgbClr val="404155"/>
                </a:solidFill>
                <a:latin typeface="Microsoft Sans Serif"/>
                <a:cs typeface="Microsoft Sans Serif"/>
              </a:rPr>
              <a:t>for</a:t>
            </a:r>
            <a:r>
              <a:rPr dirty="0" sz="14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easy</a:t>
            </a:r>
            <a:r>
              <a:rPr dirty="0" sz="14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5">
                <a:solidFill>
                  <a:srgbClr val="404155"/>
                </a:solidFill>
                <a:latin typeface="Microsoft Sans Serif"/>
                <a:cs typeface="Microsoft Sans Serif"/>
              </a:rPr>
              <a:t>trend </a:t>
            </a:r>
            <a:r>
              <a:rPr dirty="0" sz="1450" spc="-10">
                <a:solidFill>
                  <a:srgbClr val="404155"/>
                </a:solidFill>
                <a:latin typeface="Microsoft Sans Serif"/>
                <a:cs typeface="Microsoft Sans Serif"/>
              </a:rPr>
              <a:t>analysis.</a:t>
            </a:r>
            <a:endParaRPr sz="14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47554" y="6455791"/>
            <a:ext cx="3064510" cy="1183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70">
                <a:solidFill>
                  <a:srgbClr val="404155"/>
                </a:solidFill>
                <a:latin typeface="Verdana"/>
                <a:cs typeface="Verdana"/>
              </a:rPr>
              <a:t>Map</a:t>
            </a:r>
            <a:r>
              <a:rPr dirty="0" sz="1800" spc="-14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04155"/>
                </a:solidFill>
                <a:latin typeface="Verdana"/>
                <a:cs typeface="Verdana"/>
              </a:rPr>
              <a:t>Integration</a:t>
            </a:r>
            <a:endParaRPr sz="1800">
              <a:latin typeface="Verdana"/>
              <a:cs typeface="Verdana"/>
            </a:endParaRPr>
          </a:p>
          <a:p>
            <a:pPr marL="12700" marR="5080">
              <a:lnSpc>
                <a:spcPct val="120700"/>
              </a:lnSpc>
              <a:spcBef>
                <a:spcPts val="660"/>
              </a:spcBef>
            </a:pP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Pinpoint</a:t>
            </a:r>
            <a:r>
              <a:rPr dirty="0" sz="1450" spc="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90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4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>
                <a:solidFill>
                  <a:srgbClr val="404155"/>
                </a:solidFill>
                <a:latin typeface="Microsoft Sans Serif"/>
                <a:cs typeface="Microsoft Sans Serif"/>
              </a:rPr>
              <a:t>user's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70">
                <a:solidFill>
                  <a:srgbClr val="404155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4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450" spc="30">
                <a:solidFill>
                  <a:srgbClr val="404155"/>
                </a:solidFill>
                <a:latin typeface="Microsoft Sans Serif"/>
                <a:cs typeface="Microsoft Sans Serif"/>
              </a:rPr>
              <a:t> an </a:t>
            </a:r>
            <a:r>
              <a:rPr dirty="0" sz="1450" spc="60">
                <a:solidFill>
                  <a:srgbClr val="404155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450" spc="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85">
                <a:solidFill>
                  <a:srgbClr val="404155"/>
                </a:solidFill>
                <a:latin typeface="Microsoft Sans Serif"/>
                <a:cs typeface="Microsoft Sans Serif"/>
              </a:rPr>
              <a:t>map</a:t>
            </a:r>
            <a:r>
              <a:rPr dirty="0" sz="1450" spc="1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10">
                <a:solidFill>
                  <a:srgbClr val="404155"/>
                </a:solidFill>
                <a:latin typeface="Microsoft Sans Serif"/>
                <a:cs typeface="Microsoft Sans Serif"/>
              </a:rPr>
              <a:t>alongside</a:t>
            </a:r>
            <a:r>
              <a:rPr dirty="0" sz="1450" spc="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450" spc="50">
                <a:solidFill>
                  <a:srgbClr val="404155"/>
                </a:solidFill>
                <a:latin typeface="Microsoft Sans Serif"/>
                <a:cs typeface="Microsoft Sans Serif"/>
              </a:rPr>
              <a:t>weather </a:t>
            </a:r>
            <a:r>
              <a:rPr dirty="0" sz="1450" spc="60">
                <a:solidFill>
                  <a:srgbClr val="404155"/>
                </a:solidFill>
                <a:latin typeface="Microsoft Sans Serif"/>
                <a:cs typeface="Microsoft Sans Serif"/>
              </a:rPr>
              <a:t>data.</a:t>
            </a:r>
            <a:endParaRPr sz="1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0183" y="1926335"/>
            <a:ext cx="6529070" cy="1819910"/>
            <a:chOff x="710183" y="1926335"/>
            <a:chExt cx="6529070" cy="1819910"/>
          </a:xfrm>
        </p:grpSpPr>
        <p:sp>
          <p:nvSpPr>
            <p:cNvPr id="3" name="object 3"/>
            <p:cNvSpPr/>
            <p:nvPr/>
          </p:nvSpPr>
          <p:spPr>
            <a:xfrm>
              <a:off x="714755" y="1930907"/>
              <a:ext cx="6520180" cy="1811020"/>
            </a:xfrm>
            <a:custGeom>
              <a:avLst/>
              <a:gdLst/>
              <a:ahLst/>
              <a:cxnLst/>
              <a:rect l="l" t="t" r="r" b="b"/>
              <a:pathLst>
                <a:path w="6520180" h="1811020">
                  <a:moveTo>
                    <a:pt x="6439281" y="0"/>
                  </a:moveTo>
                  <a:lnTo>
                    <a:pt x="80352" y="0"/>
                  </a:lnTo>
                  <a:lnTo>
                    <a:pt x="49077" y="6310"/>
                  </a:lnTo>
                  <a:lnTo>
                    <a:pt x="23536" y="23526"/>
                  </a:lnTo>
                  <a:lnTo>
                    <a:pt x="6315" y="49077"/>
                  </a:lnTo>
                  <a:lnTo>
                    <a:pt x="0" y="80390"/>
                  </a:lnTo>
                  <a:lnTo>
                    <a:pt x="0" y="1730120"/>
                  </a:lnTo>
                  <a:lnTo>
                    <a:pt x="6315" y="1761434"/>
                  </a:lnTo>
                  <a:lnTo>
                    <a:pt x="23536" y="1786985"/>
                  </a:lnTo>
                  <a:lnTo>
                    <a:pt x="49077" y="1804201"/>
                  </a:lnTo>
                  <a:lnTo>
                    <a:pt x="80352" y="1810512"/>
                  </a:lnTo>
                  <a:lnTo>
                    <a:pt x="6439281" y="1810512"/>
                  </a:lnTo>
                  <a:lnTo>
                    <a:pt x="6470594" y="1804201"/>
                  </a:lnTo>
                  <a:lnTo>
                    <a:pt x="6496145" y="1786985"/>
                  </a:lnTo>
                  <a:lnTo>
                    <a:pt x="6513361" y="1761434"/>
                  </a:lnTo>
                  <a:lnTo>
                    <a:pt x="6519672" y="1730120"/>
                  </a:lnTo>
                  <a:lnTo>
                    <a:pt x="6519672" y="80390"/>
                  </a:lnTo>
                  <a:lnTo>
                    <a:pt x="6513361" y="49077"/>
                  </a:lnTo>
                  <a:lnTo>
                    <a:pt x="6496145" y="23526"/>
                  </a:lnTo>
                  <a:lnTo>
                    <a:pt x="6470594" y="6310"/>
                  </a:lnTo>
                  <a:lnTo>
                    <a:pt x="6439281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4755" y="1930907"/>
              <a:ext cx="6520180" cy="1811020"/>
            </a:xfrm>
            <a:custGeom>
              <a:avLst/>
              <a:gdLst/>
              <a:ahLst/>
              <a:cxnLst/>
              <a:rect l="l" t="t" r="r" b="b"/>
              <a:pathLst>
                <a:path w="6520180" h="1811020">
                  <a:moveTo>
                    <a:pt x="0" y="80390"/>
                  </a:moveTo>
                  <a:lnTo>
                    <a:pt x="6315" y="49077"/>
                  </a:lnTo>
                  <a:lnTo>
                    <a:pt x="23536" y="23526"/>
                  </a:lnTo>
                  <a:lnTo>
                    <a:pt x="49077" y="6310"/>
                  </a:lnTo>
                  <a:lnTo>
                    <a:pt x="80352" y="0"/>
                  </a:lnTo>
                  <a:lnTo>
                    <a:pt x="6439281" y="0"/>
                  </a:lnTo>
                  <a:lnTo>
                    <a:pt x="6470594" y="6310"/>
                  </a:lnTo>
                  <a:lnTo>
                    <a:pt x="6496145" y="23526"/>
                  </a:lnTo>
                  <a:lnTo>
                    <a:pt x="6513361" y="49077"/>
                  </a:lnTo>
                  <a:lnTo>
                    <a:pt x="6519672" y="80390"/>
                  </a:lnTo>
                  <a:lnTo>
                    <a:pt x="6519672" y="1730120"/>
                  </a:lnTo>
                  <a:lnTo>
                    <a:pt x="6513361" y="1761434"/>
                  </a:lnTo>
                  <a:lnTo>
                    <a:pt x="6496145" y="1786985"/>
                  </a:lnTo>
                  <a:lnTo>
                    <a:pt x="6470594" y="1804201"/>
                  </a:lnTo>
                  <a:lnTo>
                    <a:pt x="6439281" y="1810512"/>
                  </a:lnTo>
                  <a:lnTo>
                    <a:pt x="80352" y="1810512"/>
                  </a:lnTo>
                  <a:lnTo>
                    <a:pt x="49077" y="1804201"/>
                  </a:lnTo>
                  <a:lnTo>
                    <a:pt x="23536" y="1786985"/>
                  </a:lnTo>
                  <a:lnTo>
                    <a:pt x="6315" y="1761434"/>
                  </a:lnTo>
                  <a:lnTo>
                    <a:pt x="0" y="1730120"/>
                  </a:lnTo>
                  <a:lnTo>
                    <a:pt x="0" y="80390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11351" y="2127503"/>
              <a:ext cx="573405" cy="573405"/>
            </a:xfrm>
            <a:custGeom>
              <a:avLst/>
              <a:gdLst/>
              <a:ahLst/>
              <a:cxnLst/>
              <a:rect l="l" t="t" r="r" b="b"/>
              <a:pathLst>
                <a:path w="573405" h="573405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3749" y="332987"/>
                  </a:lnTo>
                  <a:lnTo>
                    <a:pt x="14606" y="377074"/>
                  </a:lnTo>
                  <a:lnTo>
                    <a:pt x="31978" y="418183"/>
                  </a:lnTo>
                  <a:lnTo>
                    <a:pt x="55278" y="455724"/>
                  </a:lnTo>
                  <a:lnTo>
                    <a:pt x="83915" y="489108"/>
                  </a:lnTo>
                  <a:lnTo>
                    <a:pt x="117299" y="517745"/>
                  </a:lnTo>
                  <a:lnTo>
                    <a:pt x="154840" y="541045"/>
                  </a:lnTo>
                  <a:lnTo>
                    <a:pt x="195949" y="558417"/>
                  </a:lnTo>
                  <a:lnTo>
                    <a:pt x="240036" y="569274"/>
                  </a:lnTo>
                  <a:lnTo>
                    <a:pt x="286511" y="573024"/>
                  </a:lnTo>
                  <a:lnTo>
                    <a:pt x="332987" y="569274"/>
                  </a:lnTo>
                  <a:lnTo>
                    <a:pt x="377074" y="558417"/>
                  </a:lnTo>
                  <a:lnTo>
                    <a:pt x="418183" y="541045"/>
                  </a:lnTo>
                  <a:lnTo>
                    <a:pt x="455724" y="517745"/>
                  </a:lnTo>
                  <a:lnTo>
                    <a:pt x="489108" y="489108"/>
                  </a:lnTo>
                  <a:lnTo>
                    <a:pt x="517745" y="455724"/>
                  </a:lnTo>
                  <a:lnTo>
                    <a:pt x="541045" y="418183"/>
                  </a:lnTo>
                  <a:lnTo>
                    <a:pt x="558417" y="377074"/>
                  </a:lnTo>
                  <a:lnTo>
                    <a:pt x="569274" y="332987"/>
                  </a:lnTo>
                  <a:lnTo>
                    <a:pt x="573023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391400" y="1926335"/>
            <a:ext cx="6532245" cy="1819910"/>
            <a:chOff x="7391400" y="1926335"/>
            <a:chExt cx="6532245" cy="1819910"/>
          </a:xfrm>
        </p:grpSpPr>
        <p:sp>
          <p:nvSpPr>
            <p:cNvPr id="7" name="object 7"/>
            <p:cNvSpPr/>
            <p:nvPr/>
          </p:nvSpPr>
          <p:spPr>
            <a:xfrm>
              <a:off x="7395972" y="1930907"/>
              <a:ext cx="6522720" cy="1811020"/>
            </a:xfrm>
            <a:custGeom>
              <a:avLst/>
              <a:gdLst/>
              <a:ahLst/>
              <a:cxnLst/>
              <a:rect l="l" t="t" r="r" b="b"/>
              <a:pathLst>
                <a:path w="6522719" h="1811020">
                  <a:moveTo>
                    <a:pt x="6442329" y="0"/>
                  </a:moveTo>
                  <a:lnTo>
                    <a:pt x="80391" y="0"/>
                  </a:lnTo>
                  <a:lnTo>
                    <a:pt x="49077" y="6310"/>
                  </a:lnTo>
                  <a:lnTo>
                    <a:pt x="23526" y="23526"/>
                  </a:lnTo>
                  <a:lnTo>
                    <a:pt x="6310" y="49077"/>
                  </a:lnTo>
                  <a:lnTo>
                    <a:pt x="0" y="80390"/>
                  </a:lnTo>
                  <a:lnTo>
                    <a:pt x="0" y="1730120"/>
                  </a:lnTo>
                  <a:lnTo>
                    <a:pt x="6310" y="1761434"/>
                  </a:lnTo>
                  <a:lnTo>
                    <a:pt x="23526" y="1786985"/>
                  </a:lnTo>
                  <a:lnTo>
                    <a:pt x="49077" y="1804201"/>
                  </a:lnTo>
                  <a:lnTo>
                    <a:pt x="80391" y="1810512"/>
                  </a:lnTo>
                  <a:lnTo>
                    <a:pt x="6442329" y="1810512"/>
                  </a:lnTo>
                  <a:lnTo>
                    <a:pt x="6473642" y="1804201"/>
                  </a:lnTo>
                  <a:lnTo>
                    <a:pt x="6499193" y="1786985"/>
                  </a:lnTo>
                  <a:lnTo>
                    <a:pt x="6516409" y="1761434"/>
                  </a:lnTo>
                  <a:lnTo>
                    <a:pt x="6522720" y="1730120"/>
                  </a:lnTo>
                  <a:lnTo>
                    <a:pt x="6522720" y="80390"/>
                  </a:lnTo>
                  <a:lnTo>
                    <a:pt x="6516409" y="49077"/>
                  </a:lnTo>
                  <a:lnTo>
                    <a:pt x="6499193" y="23526"/>
                  </a:lnTo>
                  <a:lnTo>
                    <a:pt x="6473642" y="6310"/>
                  </a:lnTo>
                  <a:lnTo>
                    <a:pt x="6442329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395972" y="1930907"/>
              <a:ext cx="6522720" cy="1811020"/>
            </a:xfrm>
            <a:custGeom>
              <a:avLst/>
              <a:gdLst/>
              <a:ahLst/>
              <a:cxnLst/>
              <a:rect l="l" t="t" r="r" b="b"/>
              <a:pathLst>
                <a:path w="6522719" h="1811020">
                  <a:moveTo>
                    <a:pt x="0" y="80390"/>
                  </a:moveTo>
                  <a:lnTo>
                    <a:pt x="6310" y="49077"/>
                  </a:lnTo>
                  <a:lnTo>
                    <a:pt x="23526" y="23526"/>
                  </a:lnTo>
                  <a:lnTo>
                    <a:pt x="49077" y="6310"/>
                  </a:lnTo>
                  <a:lnTo>
                    <a:pt x="80391" y="0"/>
                  </a:lnTo>
                  <a:lnTo>
                    <a:pt x="6442329" y="0"/>
                  </a:lnTo>
                  <a:lnTo>
                    <a:pt x="6473642" y="6310"/>
                  </a:lnTo>
                  <a:lnTo>
                    <a:pt x="6499193" y="23526"/>
                  </a:lnTo>
                  <a:lnTo>
                    <a:pt x="6516409" y="49077"/>
                  </a:lnTo>
                  <a:lnTo>
                    <a:pt x="6522720" y="80390"/>
                  </a:lnTo>
                  <a:lnTo>
                    <a:pt x="6522720" y="1730120"/>
                  </a:lnTo>
                  <a:lnTo>
                    <a:pt x="6516409" y="1761434"/>
                  </a:lnTo>
                  <a:lnTo>
                    <a:pt x="6499193" y="1786985"/>
                  </a:lnTo>
                  <a:lnTo>
                    <a:pt x="6473642" y="1804201"/>
                  </a:lnTo>
                  <a:lnTo>
                    <a:pt x="6442329" y="1810512"/>
                  </a:lnTo>
                  <a:lnTo>
                    <a:pt x="80391" y="1810512"/>
                  </a:lnTo>
                  <a:lnTo>
                    <a:pt x="49077" y="1804201"/>
                  </a:lnTo>
                  <a:lnTo>
                    <a:pt x="23526" y="1786985"/>
                  </a:lnTo>
                  <a:lnTo>
                    <a:pt x="6310" y="1761434"/>
                  </a:lnTo>
                  <a:lnTo>
                    <a:pt x="0" y="1730120"/>
                  </a:lnTo>
                  <a:lnTo>
                    <a:pt x="0" y="80390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95615" y="2127503"/>
              <a:ext cx="573405" cy="573405"/>
            </a:xfrm>
            <a:custGeom>
              <a:avLst/>
              <a:gdLst/>
              <a:ahLst/>
              <a:cxnLst/>
              <a:rect l="l" t="t" r="r" b="b"/>
              <a:pathLst>
                <a:path w="573404" h="573405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3749" y="332987"/>
                  </a:lnTo>
                  <a:lnTo>
                    <a:pt x="14606" y="377074"/>
                  </a:lnTo>
                  <a:lnTo>
                    <a:pt x="31978" y="418183"/>
                  </a:lnTo>
                  <a:lnTo>
                    <a:pt x="55278" y="455724"/>
                  </a:lnTo>
                  <a:lnTo>
                    <a:pt x="83915" y="489108"/>
                  </a:lnTo>
                  <a:lnTo>
                    <a:pt x="117299" y="517745"/>
                  </a:lnTo>
                  <a:lnTo>
                    <a:pt x="154840" y="541045"/>
                  </a:lnTo>
                  <a:lnTo>
                    <a:pt x="195949" y="558417"/>
                  </a:lnTo>
                  <a:lnTo>
                    <a:pt x="240036" y="569274"/>
                  </a:lnTo>
                  <a:lnTo>
                    <a:pt x="286511" y="573024"/>
                  </a:lnTo>
                  <a:lnTo>
                    <a:pt x="332987" y="569274"/>
                  </a:lnTo>
                  <a:lnTo>
                    <a:pt x="377074" y="558417"/>
                  </a:lnTo>
                  <a:lnTo>
                    <a:pt x="418183" y="541045"/>
                  </a:lnTo>
                  <a:lnTo>
                    <a:pt x="455724" y="517745"/>
                  </a:lnTo>
                  <a:lnTo>
                    <a:pt x="489108" y="489108"/>
                  </a:lnTo>
                  <a:lnTo>
                    <a:pt x="517745" y="455724"/>
                  </a:lnTo>
                  <a:lnTo>
                    <a:pt x="541045" y="418183"/>
                  </a:lnTo>
                  <a:lnTo>
                    <a:pt x="558417" y="377074"/>
                  </a:lnTo>
                  <a:lnTo>
                    <a:pt x="569274" y="332987"/>
                  </a:lnTo>
                  <a:lnTo>
                    <a:pt x="573024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10183" y="3898391"/>
            <a:ext cx="6529070" cy="1819910"/>
            <a:chOff x="710183" y="3898391"/>
            <a:chExt cx="6529070" cy="1819910"/>
          </a:xfrm>
        </p:grpSpPr>
        <p:sp>
          <p:nvSpPr>
            <p:cNvPr id="11" name="object 11"/>
            <p:cNvSpPr/>
            <p:nvPr/>
          </p:nvSpPr>
          <p:spPr>
            <a:xfrm>
              <a:off x="714755" y="3902963"/>
              <a:ext cx="6520180" cy="1811020"/>
            </a:xfrm>
            <a:custGeom>
              <a:avLst/>
              <a:gdLst/>
              <a:ahLst/>
              <a:cxnLst/>
              <a:rect l="l" t="t" r="r" b="b"/>
              <a:pathLst>
                <a:path w="6520180" h="1811020">
                  <a:moveTo>
                    <a:pt x="6439281" y="0"/>
                  </a:moveTo>
                  <a:lnTo>
                    <a:pt x="80352" y="0"/>
                  </a:lnTo>
                  <a:lnTo>
                    <a:pt x="49077" y="6310"/>
                  </a:lnTo>
                  <a:lnTo>
                    <a:pt x="23536" y="23526"/>
                  </a:lnTo>
                  <a:lnTo>
                    <a:pt x="6315" y="49077"/>
                  </a:lnTo>
                  <a:lnTo>
                    <a:pt x="0" y="80390"/>
                  </a:lnTo>
                  <a:lnTo>
                    <a:pt x="0" y="1730121"/>
                  </a:lnTo>
                  <a:lnTo>
                    <a:pt x="6315" y="1761434"/>
                  </a:lnTo>
                  <a:lnTo>
                    <a:pt x="23536" y="1786985"/>
                  </a:lnTo>
                  <a:lnTo>
                    <a:pt x="49077" y="1804201"/>
                  </a:lnTo>
                  <a:lnTo>
                    <a:pt x="80352" y="1810512"/>
                  </a:lnTo>
                  <a:lnTo>
                    <a:pt x="6439281" y="1810512"/>
                  </a:lnTo>
                  <a:lnTo>
                    <a:pt x="6470594" y="1804201"/>
                  </a:lnTo>
                  <a:lnTo>
                    <a:pt x="6496145" y="1786985"/>
                  </a:lnTo>
                  <a:lnTo>
                    <a:pt x="6513361" y="1761434"/>
                  </a:lnTo>
                  <a:lnTo>
                    <a:pt x="6519672" y="1730121"/>
                  </a:lnTo>
                  <a:lnTo>
                    <a:pt x="6519672" y="80390"/>
                  </a:lnTo>
                  <a:lnTo>
                    <a:pt x="6513361" y="49077"/>
                  </a:lnTo>
                  <a:lnTo>
                    <a:pt x="6496145" y="23526"/>
                  </a:lnTo>
                  <a:lnTo>
                    <a:pt x="6470594" y="6310"/>
                  </a:lnTo>
                  <a:lnTo>
                    <a:pt x="6439281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4755" y="3902963"/>
              <a:ext cx="6520180" cy="1811020"/>
            </a:xfrm>
            <a:custGeom>
              <a:avLst/>
              <a:gdLst/>
              <a:ahLst/>
              <a:cxnLst/>
              <a:rect l="l" t="t" r="r" b="b"/>
              <a:pathLst>
                <a:path w="6520180" h="1811020">
                  <a:moveTo>
                    <a:pt x="0" y="80390"/>
                  </a:moveTo>
                  <a:lnTo>
                    <a:pt x="6315" y="49077"/>
                  </a:lnTo>
                  <a:lnTo>
                    <a:pt x="23536" y="23526"/>
                  </a:lnTo>
                  <a:lnTo>
                    <a:pt x="49077" y="6310"/>
                  </a:lnTo>
                  <a:lnTo>
                    <a:pt x="80352" y="0"/>
                  </a:lnTo>
                  <a:lnTo>
                    <a:pt x="6439281" y="0"/>
                  </a:lnTo>
                  <a:lnTo>
                    <a:pt x="6470594" y="6310"/>
                  </a:lnTo>
                  <a:lnTo>
                    <a:pt x="6496145" y="23526"/>
                  </a:lnTo>
                  <a:lnTo>
                    <a:pt x="6513361" y="49077"/>
                  </a:lnTo>
                  <a:lnTo>
                    <a:pt x="6519672" y="80390"/>
                  </a:lnTo>
                  <a:lnTo>
                    <a:pt x="6519672" y="1730121"/>
                  </a:lnTo>
                  <a:lnTo>
                    <a:pt x="6513361" y="1761434"/>
                  </a:lnTo>
                  <a:lnTo>
                    <a:pt x="6496145" y="1786985"/>
                  </a:lnTo>
                  <a:lnTo>
                    <a:pt x="6470594" y="1804201"/>
                  </a:lnTo>
                  <a:lnTo>
                    <a:pt x="6439281" y="1810512"/>
                  </a:lnTo>
                  <a:lnTo>
                    <a:pt x="80352" y="1810512"/>
                  </a:lnTo>
                  <a:lnTo>
                    <a:pt x="49077" y="1804201"/>
                  </a:lnTo>
                  <a:lnTo>
                    <a:pt x="23536" y="1786985"/>
                  </a:lnTo>
                  <a:lnTo>
                    <a:pt x="6315" y="1761434"/>
                  </a:lnTo>
                  <a:lnTo>
                    <a:pt x="0" y="1730121"/>
                  </a:lnTo>
                  <a:lnTo>
                    <a:pt x="0" y="80390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11351" y="4099559"/>
              <a:ext cx="573405" cy="576580"/>
            </a:xfrm>
            <a:custGeom>
              <a:avLst/>
              <a:gdLst/>
              <a:ahLst/>
              <a:cxnLst/>
              <a:rect l="l" t="t" r="r" b="b"/>
              <a:pathLst>
                <a:path w="573405" h="576579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0" y="289560"/>
                  </a:lnTo>
                  <a:lnTo>
                    <a:pt x="3749" y="336035"/>
                  </a:lnTo>
                  <a:lnTo>
                    <a:pt x="14606" y="380122"/>
                  </a:lnTo>
                  <a:lnTo>
                    <a:pt x="31978" y="421231"/>
                  </a:lnTo>
                  <a:lnTo>
                    <a:pt x="55278" y="458772"/>
                  </a:lnTo>
                  <a:lnTo>
                    <a:pt x="83915" y="492156"/>
                  </a:lnTo>
                  <a:lnTo>
                    <a:pt x="117299" y="520793"/>
                  </a:lnTo>
                  <a:lnTo>
                    <a:pt x="154840" y="544093"/>
                  </a:lnTo>
                  <a:lnTo>
                    <a:pt x="195949" y="561465"/>
                  </a:lnTo>
                  <a:lnTo>
                    <a:pt x="240036" y="572322"/>
                  </a:lnTo>
                  <a:lnTo>
                    <a:pt x="286511" y="576072"/>
                  </a:lnTo>
                  <a:lnTo>
                    <a:pt x="332987" y="572322"/>
                  </a:lnTo>
                  <a:lnTo>
                    <a:pt x="377074" y="561465"/>
                  </a:lnTo>
                  <a:lnTo>
                    <a:pt x="418183" y="544093"/>
                  </a:lnTo>
                  <a:lnTo>
                    <a:pt x="455724" y="520793"/>
                  </a:lnTo>
                  <a:lnTo>
                    <a:pt x="489108" y="492156"/>
                  </a:lnTo>
                  <a:lnTo>
                    <a:pt x="517745" y="458772"/>
                  </a:lnTo>
                  <a:lnTo>
                    <a:pt x="541045" y="421231"/>
                  </a:lnTo>
                  <a:lnTo>
                    <a:pt x="558417" y="380122"/>
                  </a:lnTo>
                  <a:lnTo>
                    <a:pt x="569274" y="336035"/>
                  </a:lnTo>
                  <a:lnTo>
                    <a:pt x="573023" y="289560"/>
                  </a:lnTo>
                  <a:lnTo>
                    <a:pt x="573023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7391400" y="3898391"/>
            <a:ext cx="6532245" cy="1819910"/>
            <a:chOff x="7391400" y="3898391"/>
            <a:chExt cx="6532245" cy="1819910"/>
          </a:xfrm>
        </p:grpSpPr>
        <p:sp>
          <p:nvSpPr>
            <p:cNvPr id="15" name="object 15"/>
            <p:cNvSpPr/>
            <p:nvPr/>
          </p:nvSpPr>
          <p:spPr>
            <a:xfrm>
              <a:off x="7395972" y="3902963"/>
              <a:ext cx="6522720" cy="1811020"/>
            </a:xfrm>
            <a:custGeom>
              <a:avLst/>
              <a:gdLst/>
              <a:ahLst/>
              <a:cxnLst/>
              <a:rect l="l" t="t" r="r" b="b"/>
              <a:pathLst>
                <a:path w="6522719" h="1811020">
                  <a:moveTo>
                    <a:pt x="6442329" y="0"/>
                  </a:moveTo>
                  <a:lnTo>
                    <a:pt x="80391" y="0"/>
                  </a:lnTo>
                  <a:lnTo>
                    <a:pt x="49077" y="6310"/>
                  </a:lnTo>
                  <a:lnTo>
                    <a:pt x="23526" y="23526"/>
                  </a:lnTo>
                  <a:lnTo>
                    <a:pt x="6310" y="49077"/>
                  </a:lnTo>
                  <a:lnTo>
                    <a:pt x="0" y="80390"/>
                  </a:lnTo>
                  <a:lnTo>
                    <a:pt x="0" y="1730121"/>
                  </a:lnTo>
                  <a:lnTo>
                    <a:pt x="6310" y="1761434"/>
                  </a:lnTo>
                  <a:lnTo>
                    <a:pt x="23526" y="1786985"/>
                  </a:lnTo>
                  <a:lnTo>
                    <a:pt x="49077" y="1804201"/>
                  </a:lnTo>
                  <a:lnTo>
                    <a:pt x="80391" y="1810512"/>
                  </a:lnTo>
                  <a:lnTo>
                    <a:pt x="6442329" y="1810512"/>
                  </a:lnTo>
                  <a:lnTo>
                    <a:pt x="6473642" y="1804201"/>
                  </a:lnTo>
                  <a:lnTo>
                    <a:pt x="6499193" y="1786985"/>
                  </a:lnTo>
                  <a:lnTo>
                    <a:pt x="6516409" y="1761434"/>
                  </a:lnTo>
                  <a:lnTo>
                    <a:pt x="6522720" y="1730121"/>
                  </a:lnTo>
                  <a:lnTo>
                    <a:pt x="6522720" y="80390"/>
                  </a:lnTo>
                  <a:lnTo>
                    <a:pt x="6516409" y="49077"/>
                  </a:lnTo>
                  <a:lnTo>
                    <a:pt x="6499193" y="23526"/>
                  </a:lnTo>
                  <a:lnTo>
                    <a:pt x="6473642" y="6310"/>
                  </a:lnTo>
                  <a:lnTo>
                    <a:pt x="6442329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395972" y="3902963"/>
              <a:ext cx="6522720" cy="1811020"/>
            </a:xfrm>
            <a:custGeom>
              <a:avLst/>
              <a:gdLst/>
              <a:ahLst/>
              <a:cxnLst/>
              <a:rect l="l" t="t" r="r" b="b"/>
              <a:pathLst>
                <a:path w="6522719" h="1811020">
                  <a:moveTo>
                    <a:pt x="0" y="80390"/>
                  </a:moveTo>
                  <a:lnTo>
                    <a:pt x="6310" y="49077"/>
                  </a:lnTo>
                  <a:lnTo>
                    <a:pt x="23526" y="23526"/>
                  </a:lnTo>
                  <a:lnTo>
                    <a:pt x="49077" y="6310"/>
                  </a:lnTo>
                  <a:lnTo>
                    <a:pt x="80391" y="0"/>
                  </a:lnTo>
                  <a:lnTo>
                    <a:pt x="6442329" y="0"/>
                  </a:lnTo>
                  <a:lnTo>
                    <a:pt x="6473642" y="6310"/>
                  </a:lnTo>
                  <a:lnTo>
                    <a:pt x="6499193" y="23526"/>
                  </a:lnTo>
                  <a:lnTo>
                    <a:pt x="6516409" y="49077"/>
                  </a:lnTo>
                  <a:lnTo>
                    <a:pt x="6522720" y="80390"/>
                  </a:lnTo>
                  <a:lnTo>
                    <a:pt x="6522720" y="1730121"/>
                  </a:lnTo>
                  <a:lnTo>
                    <a:pt x="6516409" y="1761434"/>
                  </a:lnTo>
                  <a:lnTo>
                    <a:pt x="6499193" y="1786985"/>
                  </a:lnTo>
                  <a:lnTo>
                    <a:pt x="6473642" y="1804201"/>
                  </a:lnTo>
                  <a:lnTo>
                    <a:pt x="6442329" y="1810512"/>
                  </a:lnTo>
                  <a:lnTo>
                    <a:pt x="80391" y="1810512"/>
                  </a:lnTo>
                  <a:lnTo>
                    <a:pt x="49077" y="1804201"/>
                  </a:lnTo>
                  <a:lnTo>
                    <a:pt x="23526" y="1786985"/>
                  </a:lnTo>
                  <a:lnTo>
                    <a:pt x="6310" y="1761434"/>
                  </a:lnTo>
                  <a:lnTo>
                    <a:pt x="0" y="1730121"/>
                  </a:lnTo>
                  <a:lnTo>
                    <a:pt x="0" y="80390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595615" y="4099559"/>
              <a:ext cx="573405" cy="576580"/>
            </a:xfrm>
            <a:custGeom>
              <a:avLst/>
              <a:gdLst/>
              <a:ahLst/>
              <a:cxnLst/>
              <a:rect l="l" t="t" r="r" b="b"/>
              <a:pathLst>
                <a:path w="573404" h="576579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0" y="289560"/>
                  </a:lnTo>
                  <a:lnTo>
                    <a:pt x="3749" y="336035"/>
                  </a:lnTo>
                  <a:lnTo>
                    <a:pt x="14606" y="380122"/>
                  </a:lnTo>
                  <a:lnTo>
                    <a:pt x="31978" y="421231"/>
                  </a:lnTo>
                  <a:lnTo>
                    <a:pt x="55278" y="458772"/>
                  </a:lnTo>
                  <a:lnTo>
                    <a:pt x="83915" y="492156"/>
                  </a:lnTo>
                  <a:lnTo>
                    <a:pt x="117299" y="520793"/>
                  </a:lnTo>
                  <a:lnTo>
                    <a:pt x="154840" y="544093"/>
                  </a:lnTo>
                  <a:lnTo>
                    <a:pt x="195949" y="561465"/>
                  </a:lnTo>
                  <a:lnTo>
                    <a:pt x="240036" y="572322"/>
                  </a:lnTo>
                  <a:lnTo>
                    <a:pt x="286511" y="576072"/>
                  </a:lnTo>
                  <a:lnTo>
                    <a:pt x="332987" y="572322"/>
                  </a:lnTo>
                  <a:lnTo>
                    <a:pt x="377074" y="561465"/>
                  </a:lnTo>
                  <a:lnTo>
                    <a:pt x="418183" y="544093"/>
                  </a:lnTo>
                  <a:lnTo>
                    <a:pt x="455724" y="520793"/>
                  </a:lnTo>
                  <a:lnTo>
                    <a:pt x="489108" y="492156"/>
                  </a:lnTo>
                  <a:lnTo>
                    <a:pt x="517745" y="458772"/>
                  </a:lnTo>
                  <a:lnTo>
                    <a:pt x="541045" y="421231"/>
                  </a:lnTo>
                  <a:lnTo>
                    <a:pt x="558417" y="380122"/>
                  </a:lnTo>
                  <a:lnTo>
                    <a:pt x="569274" y="336035"/>
                  </a:lnTo>
                  <a:lnTo>
                    <a:pt x="573024" y="289560"/>
                  </a:lnTo>
                  <a:lnTo>
                    <a:pt x="573024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710183" y="5870447"/>
            <a:ext cx="6529070" cy="1823085"/>
            <a:chOff x="710183" y="5870447"/>
            <a:chExt cx="6529070" cy="1823085"/>
          </a:xfrm>
        </p:grpSpPr>
        <p:sp>
          <p:nvSpPr>
            <p:cNvPr id="19" name="object 19"/>
            <p:cNvSpPr/>
            <p:nvPr/>
          </p:nvSpPr>
          <p:spPr>
            <a:xfrm>
              <a:off x="714755" y="5875019"/>
              <a:ext cx="6520180" cy="1813560"/>
            </a:xfrm>
            <a:custGeom>
              <a:avLst/>
              <a:gdLst/>
              <a:ahLst/>
              <a:cxnLst/>
              <a:rect l="l" t="t" r="r" b="b"/>
              <a:pathLst>
                <a:path w="6520180" h="1813559">
                  <a:moveTo>
                    <a:pt x="6439154" y="0"/>
                  </a:moveTo>
                  <a:lnTo>
                    <a:pt x="80479" y="0"/>
                  </a:lnTo>
                  <a:lnTo>
                    <a:pt x="49152" y="6330"/>
                  </a:lnTo>
                  <a:lnTo>
                    <a:pt x="23571" y="23590"/>
                  </a:lnTo>
                  <a:lnTo>
                    <a:pt x="6324" y="49184"/>
                  </a:lnTo>
                  <a:lnTo>
                    <a:pt x="0" y="80517"/>
                  </a:lnTo>
                  <a:lnTo>
                    <a:pt x="0" y="1733080"/>
                  </a:lnTo>
                  <a:lnTo>
                    <a:pt x="6324" y="1764407"/>
                  </a:lnTo>
                  <a:lnTo>
                    <a:pt x="23571" y="1789988"/>
                  </a:lnTo>
                  <a:lnTo>
                    <a:pt x="49152" y="1807235"/>
                  </a:lnTo>
                  <a:lnTo>
                    <a:pt x="80479" y="1813559"/>
                  </a:lnTo>
                  <a:lnTo>
                    <a:pt x="6439154" y="1813559"/>
                  </a:lnTo>
                  <a:lnTo>
                    <a:pt x="6470487" y="1807235"/>
                  </a:lnTo>
                  <a:lnTo>
                    <a:pt x="6496081" y="1789988"/>
                  </a:lnTo>
                  <a:lnTo>
                    <a:pt x="6513341" y="1764407"/>
                  </a:lnTo>
                  <a:lnTo>
                    <a:pt x="6519672" y="1733080"/>
                  </a:lnTo>
                  <a:lnTo>
                    <a:pt x="6519672" y="80517"/>
                  </a:lnTo>
                  <a:lnTo>
                    <a:pt x="6513341" y="49184"/>
                  </a:lnTo>
                  <a:lnTo>
                    <a:pt x="6496081" y="23590"/>
                  </a:lnTo>
                  <a:lnTo>
                    <a:pt x="6470487" y="6330"/>
                  </a:lnTo>
                  <a:lnTo>
                    <a:pt x="6439154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14755" y="5875019"/>
              <a:ext cx="6520180" cy="1813560"/>
            </a:xfrm>
            <a:custGeom>
              <a:avLst/>
              <a:gdLst/>
              <a:ahLst/>
              <a:cxnLst/>
              <a:rect l="l" t="t" r="r" b="b"/>
              <a:pathLst>
                <a:path w="6520180" h="1813559">
                  <a:moveTo>
                    <a:pt x="0" y="80517"/>
                  </a:moveTo>
                  <a:lnTo>
                    <a:pt x="6324" y="49184"/>
                  </a:lnTo>
                  <a:lnTo>
                    <a:pt x="23571" y="23590"/>
                  </a:lnTo>
                  <a:lnTo>
                    <a:pt x="49152" y="6330"/>
                  </a:lnTo>
                  <a:lnTo>
                    <a:pt x="80479" y="0"/>
                  </a:lnTo>
                  <a:lnTo>
                    <a:pt x="6439154" y="0"/>
                  </a:lnTo>
                  <a:lnTo>
                    <a:pt x="6470487" y="6330"/>
                  </a:lnTo>
                  <a:lnTo>
                    <a:pt x="6496081" y="23590"/>
                  </a:lnTo>
                  <a:lnTo>
                    <a:pt x="6513341" y="49184"/>
                  </a:lnTo>
                  <a:lnTo>
                    <a:pt x="6519672" y="80517"/>
                  </a:lnTo>
                  <a:lnTo>
                    <a:pt x="6519672" y="1733080"/>
                  </a:lnTo>
                  <a:lnTo>
                    <a:pt x="6513341" y="1764407"/>
                  </a:lnTo>
                  <a:lnTo>
                    <a:pt x="6496081" y="1789988"/>
                  </a:lnTo>
                  <a:lnTo>
                    <a:pt x="6470487" y="1807235"/>
                  </a:lnTo>
                  <a:lnTo>
                    <a:pt x="6439154" y="1813559"/>
                  </a:lnTo>
                  <a:lnTo>
                    <a:pt x="80479" y="1813559"/>
                  </a:lnTo>
                  <a:lnTo>
                    <a:pt x="49152" y="1807235"/>
                  </a:lnTo>
                  <a:lnTo>
                    <a:pt x="23571" y="1789988"/>
                  </a:lnTo>
                  <a:lnTo>
                    <a:pt x="6324" y="1764407"/>
                  </a:lnTo>
                  <a:lnTo>
                    <a:pt x="0" y="1733080"/>
                  </a:lnTo>
                  <a:lnTo>
                    <a:pt x="0" y="80517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11351" y="6074663"/>
              <a:ext cx="573405" cy="573405"/>
            </a:xfrm>
            <a:custGeom>
              <a:avLst/>
              <a:gdLst/>
              <a:ahLst/>
              <a:cxnLst/>
              <a:rect l="l" t="t" r="r" b="b"/>
              <a:pathLst>
                <a:path w="573405" h="573404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3749" y="332987"/>
                  </a:lnTo>
                  <a:lnTo>
                    <a:pt x="14606" y="377074"/>
                  </a:lnTo>
                  <a:lnTo>
                    <a:pt x="31978" y="418183"/>
                  </a:lnTo>
                  <a:lnTo>
                    <a:pt x="55278" y="455724"/>
                  </a:lnTo>
                  <a:lnTo>
                    <a:pt x="83915" y="489108"/>
                  </a:lnTo>
                  <a:lnTo>
                    <a:pt x="117299" y="517745"/>
                  </a:lnTo>
                  <a:lnTo>
                    <a:pt x="154840" y="541045"/>
                  </a:lnTo>
                  <a:lnTo>
                    <a:pt x="195949" y="558417"/>
                  </a:lnTo>
                  <a:lnTo>
                    <a:pt x="240036" y="569274"/>
                  </a:lnTo>
                  <a:lnTo>
                    <a:pt x="286511" y="573024"/>
                  </a:lnTo>
                  <a:lnTo>
                    <a:pt x="332987" y="569274"/>
                  </a:lnTo>
                  <a:lnTo>
                    <a:pt x="377074" y="558417"/>
                  </a:lnTo>
                  <a:lnTo>
                    <a:pt x="418183" y="541045"/>
                  </a:lnTo>
                  <a:lnTo>
                    <a:pt x="455724" y="517745"/>
                  </a:lnTo>
                  <a:lnTo>
                    <a:pt x="489108" y="489108"/>
                  </a:lnTo>
                  <a:lnTo>
                    <a:pt x="517745" y="455724"/>
                  </a:lnTo>
                  <a:lnTo>
                    <a:pt x="541045" y="418183"/>
                  </a:lnTo>
                  <a:lnTo>
                    <a:pt x="558417" y="377074"/>
                  </a:lnTo>
                  <a:lnTo>
                    <a:pt x="569274" y="332987"/>
                  </a:lnTo>
                  <a:lnTo>
                    <a:pt x="573023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7391400" y="5870447"/>
            <a:ext cx="6532245" cy="1823085"/>
            <a:chOff x="7391400" y="5870447"/>
            <a:chExt cx="6532245" cy="1823085"/>
          </a:xfrm>
        </p:grpSpPr>
        <p:sp>
          <p:nvSpPr>
            <p:cNvPr id="23" name="object 23"/>
            <p:cNvSpPr/>
            <p:nvPr/>
          </p:nvSpPr>
          <p:spPr>
            <a:xfrm>
              <a:off x="7395972" y="5875019"/>
              <a:ext cx="6522720" cy="1813560"/>
            </a:xfrm>
            <a:custGeom>
              <a:avLst/>
              <a:gdLst/>
              <a:ahLst/>
              <a:cxnLst/>
              <a:rect l="l" t="t" r="r" b="b"/>
              <a:pathLst>
                <a:path w="6522719" h="1813559">
                  <a:moveTo>
                    <a:pt x="6442201" y="0"/>
                  </a:moveTo>
                  <a:lnTo>
                    <a:pt x="80518" y="0"/>
                  </a:lnTo>
                  <a:lnTo>
                    <a:pt x="49184" y="6330"/>
                  </a:lnTo>
                  <a:lnTo>
                    <a:pt x="23590" y="23590"/>
                  </a:lnTo>
                  <a:lnTo>
                    <a:pt x="6330" y="49184"/>
                  </a:lnTo>
                  <a:lnTo>
                    <a:pt x="0" y="80517"/>
                  </a:lnTo>
                  <a:lnTo>
                    <a:pt x="0" y="1733080"/>
                  </a:lnTo>
                  <a:lnTo>
                    <a:pt x="6330" y="1764407"/>
                  </a:lnTo>
                  <a:lnTo>
                    <a:pt x="23590" y="1789988"/>
                  </a:lnTo>
                  <a:lnTo>
                    <a:pt x="49184" y="1807235"/>
                  </a:lnTo>
                  <a:lnTo>
                    <a:pt x="80518" y="1813559"/>
                  </a:lnTo>
                  <a:lnTo>
                    <a:pt x="6442201" y="1813559"/>
                  </a:lnTo>
                  <a:lnTo>
                    <a:pt x="6473535" y="1807235"/>
                  </a:lnTo>
                  <a:lnTo>
                    <a:pt x="6499129" y="1789988"/>
                  </a:lnTo>
                  <a:lnTo>
                    <a:pt x="6516389" y="1764407"/>
                  </a:lnTo>
                  <a:lnTo>
                    <a:pt x="6522720" y="1733080"/>
                  </a:lnTo>
                  <a:lnTo>
                    <a:pt x="6522720" y="80517"/>
                  </a:lnTo>
                  <a:lnTo>
                    <a:pt x="6516389" y="49184"/>
                  </a:lnTo>
                  <a:lnTo>
                    <a:pt x="6499129" y="23590"/>
                  </a:lnTo>
                  <a:lnTo>
                    <a:pt x="6473535" y="6330"/>
                  </a:lnTo>
                  <a:lnTo>
                    <a:pt x="6442201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395972" y="5875019"/>
              <a:ext cx="6522720" cy="1813560"/>
            </a:xfrm>
            <a:custGeom>
              <a:avLst/>
              <a:gdLst/>
              <a:ahLst/>
              <a:cxnLst/>
              <a:rect l="l" t="t" r="r" b="b"/>
              <a:pathLst>
                <a:path w="6522719" h="1813559">
                  <a:moveTo>
                    <a:pt x="0" y="80517"/>
                  </a:moveTo>
                  <a:lnTo>
                    <a:pt x="6330" y="49184"/>
                  </a:lnTo>
                  <a:lnTo>
                    <a:pt x="23590" y="23590"/>
                  </a:lnTo>
                  <a:lnTo>
                    <a:pt x="49184" y="6330"/>
                  </a:lnTo>
                  <a:lnTo>
                    <a:pt x="80518" y="0"/>
                  </a:lnTo>
                  <a:lnTo>
                    <a:pt x="6442201" y="0"/>
                  </a:lnTo>
                  <a:lnTo>
                    <a:pt x="6473535" y="6330"/>
                  </a:lnTo>
                  <a:lnTo>
                    <a:pt x="6499129" y="23590"/>
                  </a:lnTo>
                  <a:lnTo>
                    <a:pt x="6516389" y="49184"/>
                  </a:lnTo>
                  <a:lnTo>
                    <a:pt x="6522720" y="80517"/>
                  </a:lnTo>
                  <a:lnTo>
                    <a:pt x="6522720" y="1733080"/>
                  </a:lnTo>
                  <a:lnTo>
                    <a:pt x="6516389" y="1764407"/>
                  </a:lnTo>
                  <a:lnTo>
                    <a:pt x="6499129" y="1789988"/>
                  </a:lnTo>
                  <a:lnTo>
                    <a:pt x="6473535" y="1807235"/>
                  </a:lnTo>
                  <a:lnTo>
                    <a:pt x="6442201" y="1813559"/>
                  </a:lnTo>
                  <a:lnTo>
                    <a:pt x="80518" y="1813559"/>
                  </a:lnTo>
                  <a:lnTo>
                    <a:pt x="49184" y="1807235"/>
                  </a:lnTo>
                  <a:lnTo>
                    <a:pt x="23590" y="1789988"/>
                  </a:lnTo>
                  <a:lnTo>
                    <a:pt x="6330" y="1764407"/>
                  </a:lnTo>
                  <a:lnTo>
                    <a:pt x="0" y="1733080"/>
                  </a:lnTo>
                  <a:lnTo>
                    <a:pt x="0" y="80517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595615" y="6074663"/>
              <a:ext cx="573405" cy="573405"/>
            </a:xfrm>
            <a:custGeom>
              <a:avLst/>
              <a:gdLst/>
              <a:ahLst/>
              <a:cxnLst/>
              <a:rect l="l" t="t" r="r" b="b"/>
              <a:pathLst>
                <a:path w="573404" h="573404">
                  <a:moveTo>
                    <a:pt x="286511" y="0"/>
                  </a:moveTo>
                  <a:lnTo>
                    <a:pt x="240036" y="3749"/>
                  </a:lnTo>
                  <a:lnTo>
                    <a:pt x="195949" y="14606"/>
                  </a:lnTo>
                  <a:lnTo>
                    <a:pt x="154840" y="31978"/>
                  </a:lnTo>
                  <a:lnTo>
                    <a:pt x="117299" y="55278"/>
                  </a:lnTo>
                  <a:lnTo>
                    <a:pt x="83915" y="83915"/>
                  </a:lnTo>
                  <a:lnTo>
                    <a:pt x="55278" y="117299"/>
                  </a:lnTo>
                  <a:lnTo>
                    <a:pt x="31978" y="154840"/>
                  </a:lnTo>
                  <a:lnTo>
                    <a:pt x="14606" y="195949"/>
                  </a:lnTo>
                  <a:lnTo>
                    <a:pt x="3749" y="240036"/>
                  </a:lnTo>
                  <a:lnTo>
                    <a:pt x="0" y="286512"/>
                  </a:lnTo>
                  <a:lnTo>
                    <a:pt x="3749" y="332987"/>
                  </a:lnTo>
                  <a:lnTo>
                    <a:pt x="14606" y="377074"/>
                  </a:lnTo>
                  <a:lnTo>
                    <a:pt x="31978" y="418183"/>
                  </a:lnTo>
                  <a:lnTo>
                    <a:pt x="55278" y="455724"/>
                  </a:lnTo>
                  <a:lnTo>
                    <a:pt x="83915" y="489108"/>
                  </a:lnTo>
                  <a:lnTo>
                    <a:pt x="117299" y="517745"/>
                  </a:lnTo>
                  <a:lnTo>
                    <a:pt x="154840" y="541045"/>
                  </a:lnTo>
                  <a:lnTo>
                    <a:pt x="195949" y="558417"/>
                  </a:lnTo>
                  <a:lnTo>
                    <a:pt x="240036" y="569274"/>
                  </a:lnTo>
                  <a:lnTo>
                    <a:pt x="286511" y="573024"/>
                  </a:lnTo>
                  <a:lnTo>
                    <a:pt x="332987" y="569274"/>
                  </a:lnTo>
                  <a:lnTo>
                    <a:pt x="377074" y="558417"/>
                  </a:lnTo>
                  <a:lnTo>
                    <a:pt x="418183" y="541045"/>
                  </a:lnTo>
                  <a:lnTo>
                    <a:pt x="455724" y="517745"/>
                  </a:lnTo>
                  <a:lnTo>
                    <a:pt x="489108" y="489108"/>
                  </a:lnTo>
                  <a:lnTo>
                    <a:pt x="517745" y="455724"/>
                  </a:lnTo>
                  <a:lnTo>
                    <a:pt x="541045" y="418183"/>
                  </a:lnTo>
                  <a:lnTo>
                    <a:pt x="558417" y="377074"/>
                  </a:lnTo>
                  <a:lnTo>
                    <a:pt x="569274" y="332987"/>
                  </a:lnTo>
                  <a:lnTo>
                    <a:pt x="573024" y="286512"/>
                  </a:lnTo>
                  <a:lnTo>
                    <a:pt x="569274" y="240036"/>
                  </a:lnTo>
                  <a:lnTo>
                    <a:pt x="558417" y="195949"/>
                  </a:lnTo>
                  <a:lnTo>
                    <a:pt x="541045" y="154840"/>
                  </a:lnTo>
                  <a:lnTo>
                    <a:pt x="517745" y="117299"/>
                  </a:lnTo>
                  <a:lnTo>
                    <a:pt x="489108" y="83915"/>
                  </a:lnTo>
                  <a:lnTo>
                    <a:pt x="455724" y="55278"/>
                  </a:lnTo>
                  <a:lnTo>
                    <a:pt x="418183" y="31978"/>
                  </a:lnTo>
                  <a:lnTo>
                    <a:pt x="377074" y="14606"/>
                  </a:lnTo>
                  <a:lnTo>
                    <a:pt x="332987" y="3749"/>
                  </a:lnTo>
                  <a:lnTo>
                    <a:pt x="286511" y="0"/>
                  </a:lnTo>
                  <a:close/>
                </a:path>
              </a:pathLst>
            </a:custGeom>
            <a:solidFill>
              <a:srgbClr val="1B53D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847" y="2286000"/>
            <a:ext cx="259079" cy="25907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4111" y="2286000"/>
            <a:ext cx="256031" cy="25907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847" y="4258055"/>
            <a:ext cx="259079" cy="25907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4111" y="4258055"/>
            <a:ext cx="256031" cy="25907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9847" y="6230112"/>
            <a:ext cx="259079" cy="25908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4111" y="6230112"/>
            <a:ext cx="256031" cy="259080"/>
          </a:xfrm>
          <a:prstGeom prst="rect">
            <a:avLst/>
          </a:prstGeom>
        </p:spPr>
      </p:pic>
      <p:sp>
        <p:nvSpPr>
          <p:cNvPr id="32" name="object 32" descr="$PPTXTitle"/>
          <p:cNvSpPr txBox="1">
            <a:spLocks noGrp="1"/>
          </p:cNvSpPr>
          <p:nvPr>
            <p:ph type="title"/>
          </p:nvPr>
        </p:nvSpPr>
        <p:spPr>
          <a:xfrm>
            <a:off x="699922" y="504190"/>
            <a:ext cx="4478020" cy="5962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50"/>
              <a:t>Technologies</a:t>
            </a:r>
            <a:r>
              <a:rPr dirty="0" sz="3750" spc="-120"/>
              <a:t> </a:t>
            </a:r>
            <a:r>
              <a:rPr dirty="0" sz="3750" spc="-20"/>
              <a:t>Used</a:t>
            </a:r>
            <a:endParaRPr sz="3750"/>
          </a:p>
        </p:txBody>
      </p:sp>
      <p:sp>
        <p:nvSpPr>
          <p:cNvPr id="33" name="object 33"/>
          <p:cNvSpPr txBox="1"/>
          <p:nvPr/>
        </p:nvSpPr>
        <p:spPr>
          <a:xfrm>
            <a:off x="699922" y="1471041"/>
            <a:ext cx="891857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55">
                <a:solidFill>
                  <a:srgbClr val="404155"/>
                </a:solidFill>
                <a:latin typeface="Microsoft Sans Serif"/>
                <a:cs typeface="Microsoft Sans Serif"/>
              </a:rPr>
              <a:t>Skycast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is</a:t>
            </a:r>
            <a:r>
              <a:rPr dirty="0" sz="15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built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modern,</a:t>
            </a:r>
            <a:r>
              <a:rPr dirty="0" sz="15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lightweight</a:t>
            </a:r>
            <a:r>
              <a:rPr dirty="0" sz="150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50">
                <a:solidFill>
                  <a:srgbClr val="404155"/>
                </a:solidFill>
                <a:latin typeface="Microsoft Sans Serif"/>
                <a:cs typeface="Microsoft Sans Serif"/>
              </a:rPr>
              <a:t>front-</a:t>
            </a:r>
            <a:r>
              <a:rPr dirty="0" sz="1500" spc="55">
                <a:solidFill>
                  <a:srgbClr val="404155"/>
                </a:solidFill>
                <a:latin typeface="Microsoft Sans Serif"/>
                <a:cs typeface="Microsoft Sans Serif"/>
              </a:rPr>
              <a:t>end</a:t>
            </a:r>
            <a:r>
              <a:rPr dirty="0" sz="1500" spc="-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04155"/>
                </a:solidFill>
                <a:latin typeface="Microsoft Sans Serif"/>
                <a:cs typeface="Microsoft Sans Serif"/>
              </a:rPr>
              <a:t>stack</a:t>
            </a:r>
            <a:r>
              <a:rPr dirty="0" sz="15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0">
                <a:solidFill>
                  <a:srgbClr val="404155"/>
                </a:solidFill>
                <a:latin typeface="Microsoft Sans Serif"/>
                <a:cs typeface="Microsoft Sans Serif"/>
              </a:rPr>
              <a:t>—</a:t>
            </a:r>
            <a:r>
              <a:rPr dirty="0" sz="15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no</a:t>
            </a:r>
            <a:r>
              <a:rPr dirty="0" sz="150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frameworks,</a:t>
            </a:r>
            <a:r>
              <a:rPr dirty="0" sz="150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no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back-</a:t>
            </a:r>
            <a:r>
              <a:rPr dirty="0" sz="1500" spc="55">
                <a:solidFill>
                  <a:srgbClr val="404155"/>
                </a:solidFill>
                <a:latin typeface="Microsoft Sans Serif"/>
                <a:cs typeface="Microsoft Sans Serif"/>
              </a:rPr>
              <a:t>end</a:t>
            </a:r>
            <a:r>
              <a:rPr dirty="0" sz="15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35">
                <a:solidFill>
                  <a:srgbClr val="404155"/>
                </a:solidFill>
                <a:latin typeface="Microsoft Sans Serif"/>
                <a:cs typeface="Microsoft Sans Serif"/>
              </a:rPr>
              <a:t>required.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956" y="2845435"/>
            <a:ext cx="4943475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404155"/>
                </a:solidFill>
                <a:latin typeface="Verdana"/>
                <a:cs typeface="Verdana"/>
              </a:rPr>
              <a:t>HTML5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 spc="65">
                <a:solidFill>
                  <a:srgbClr val="404155"/>
                </a:solidFill>
                <a:latin typeface="Microsoft Sans Serif"/>
                <a:cs typeface="Microsoft Sans Serif"/>
              </a:rPr>
              <a:t>Semantic</a:t>
            </a:r>
            <a:r>
              <a:rPr dirty="0" sz="15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04155"/>
                </a:solidFill>
                <a:latin typeface="Microsoft Sans Serif"/>
                <a:cs typeface="Microsoft Sans Serif"/>
              </a:rPr>
              <a:t>structure</a:t>
            </a:r>
            <a:r>
              <a:rPr dirty="0" sz="1500" spc="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10">
                <a:solidFill>
                  <a:srgbClr val="404155"/>
                </a:solidFill>
                <a:latin typeface="Microsoft Sans Serif"/>
                <a:cs typeface="Microsoft Sans Serif"/>
              </a:rPr>
              <a:t> responsive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layout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04155"/>
                </a:solidFill>
                <a:latin typeface="Microsoft Sans Serif"/>
                <a:cs typeface="Microsoft Sans Serif"/>
              </a:rPr>
              <a:t>foundation.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583805" y="2845435"/>
            <a:ext cx="5563870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20">
                <a:solidFill>
                  <a:srgbClr val="404155"/>
                </a:solidFill>
                <a:latin typeface="Verdana"/>
                <a:cs typeface="Verdana"/>
              </a:rPr>
              <a:t>CSS3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 spc="60">
                <a:solidFill>
                  <a:srgbClr val="404155"/>
                </a:solidFill>
                <a:latin typeface="Microsoft Sans Serif"/>
                <a:cs typeface="Microsoft Sans Serif"/>
              </a:rPr>
              <a:t>Custom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404155"/>
                </a:solidFill>
                <a:latin typeface="Microsoft Sans Serif"/>
                <a:cs typeface="Microsoft Sans Serif"/>
              </a:rPr>
              <a:t>styling,</a:t>
            </a:r>
            <a:r>
              <a:rPr dirty="0" sz="15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5">
                <a:solidFill>
                  <a:srgbClr val="404155"/>
                </a:solidFill>
                <a:latin typeface="Microsoft Sans Serif"/>
                <a:cs typeface="Microsoft Sans Serif"/>
              </a:rPr>
              <a:t>animations,</a:t>
            </a:r>
            <a:r>
              <a:rPr dirty="0" sz="15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500" spc="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clean</a:t>
            </a:r>
            <a:r>
              <a:rPr dirty="0" sz="15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0">
                <a:solidFill>
                  <a:srgbClr val="404155"/>
                </a:solidFill>
                <a:latin typeface="Microsoft Sans Serif"/>
                <a:cs typeface="Microsoft Sans Serif"/>
              </a:rPr>
              <a:t>blue</a:t>
            </a:r>
            <a:r>
              <a:rPr dirty="0" sz="150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theme.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8956" y="4819014"/>
            <a:ext cx="5615940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404155"/>
                </a:solidFill>
                <a:latin typeface="Verdana"/>
                <a:cs typeface="Verdana"/>
              </a:rPr>
              <a:t>JavaScript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Core </a:t>
            </a:r>
            <a:r>
              <a:rPr dirty="0" sz="1500" spc="60">
                <a:solidFill>
                  <a:srgbClr val="404155"/>
                </a:solidFill>
                <a:latin typeface="Microsoft Sans Serif"/>
                <a:cs typeface="Microsoft Sans Serif"/>
              </a:rPr>
              <a:t>logic</a:t>
            </a:r>
            <a:r>
              <a:rPr dirty="0" sz="150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25">
                <a:solidFill>
                  <a:srgbClr val="404155"/>
                </a:solidFill>
                <a:latin typeface="Microsoft Sans Serif"/>
                <a:cs typeface="Microsoft Sans Serif"/>
              </a:rPr>
              <a:t>for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404155"/>
                </a:solidFill>
                <a:latin typeface="Microsoft Sans Serif"/>
                <a:cs typeface="Microsoft Sans Serif"/>
              </a:rPr>
              <a:t>API</a:t>
            </a: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 calls,</a:t>
            </a:r>
            <a:r>
              <a:rPr dirty="0" sz="15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5">
                <a:solidFill>
                  <a:srgbClr val="404155"/>
                </a:solidFill>
                <a:latin typeface="Microsoft Sans Serif"/>
                <a:cs typeface="Microsoft Sans Serif"/>
              </a:rPr>
              <a:t>geolocation,</a:t>
            </a:r>
            <a:r>
              <a:rPr dirty="0" sz="1500" spc="-10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04155"/>
                </a:solidFill>
                <a:latin typeface="Microsoft Sans Serif"/>
                <a:cs typeface="Microsoft Sans Serif"/>
              </a:rPr>
              <a:t>dynamic</a:t>
            </a:r>
            <a:r>
              <a:rPr dirty="0" sz="1500" spc="-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04155"/>
                </a:solidFill>
                <a:latin typeface="Microsoft Sans Serif"/>
                <a:cs typeface="Microsoft Sans Serif"/>
              </a:rPr>
              <a:t>UI</a:t>
            </a:r>
            <a:r>
              <a:rPr dirty="0" sz="15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0">
                <a:solidFill>
                  <a:srgbClr val="404155"/>
                </a:solidFill>
                <a:latin typeface="Microsoft Sans Serif"/>
                <a:cs typeface="Microsoft Sans Serif"/>
              </a:rPr>
              <a:t>updates.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583805" y="4819014"/>
            <a:ext cx="4982210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>
                <a:solidFill>
                  <a:srgbClr val="404155"/>
                </a:solidFill>
                <a:latin typeface="Verdana"/>
                <a:cs typeface="Verdana"/>
              </a:rPr>
              <a:t>OpenWeather</a:t>
            </a:r>
            <a:r>
              <a:rPr dirty="0" sz="1850" spc="7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850" spc="-25">
                <a:solidFill>
                  <a:srgbClr val="404155"/>
                </a:solidFill>
                <a:latin typeface="Verdana"/>
                <a:cs typeface="Verdana"/>
              </a:rPr>
              <a:t>API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>
                <a:solidFill>
                  <a:srgbClr val="404155"/>
                </a:solidFill>
                <a:latin typeface="Microsoft Sans Serif"/>
                <a:cs typeface="Microsoft Sans Serif"/>
              </a:rPr>
              <a:t>Real-</a:t>
            </a:r>
            <a:r>
              <a:rPr dirty="0" sz="1500" spc="110">
                <a:solidFill>
                  <a:srgbClr val="404155"/>
                </a:solidFill>
                <a:latin typeface="Microsoft Sans Serif"/>
                <a:cs typeface="Microsoft Sans Serif"/>
              </a:rPr>
              <a:t>time</a:t>
            </a:r>
            <a:r>
              <a:rPr dirty="0" sz="150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00">
                <a:solidFill>
                  <a:srgbClr val="404155"/>
                </a:solidFill>
                <a:latin typeface="Microsoft Sans Serif"/>
                <a:cs typeface="Microsoft Sans Serif"/>
              </a:rPr>
              <a:t>data</a:t>
            </a:r>
            <a:r>
              <a:rPr dirty="0" sz="15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5">
                <a:solidFill>
                  <a:srgbClr val="404155"/>
                </a:solidFill>
                <a:latin typeface="Microsoft Sans Serif"/>
                <a:cs typeface="Microsoft Sans Serif"/>
              </a:rPr>
              <a:t>7-</a:t>
            </a:r>
            <a:r>
              <a:rPr dirty="0" sz="1500" spc="65">
                <a:solidFill>
                  <a:srgbClr val="404155"/>
                </a:solidFill>
                <a:latin typeface="Microsoft Sans Serif"/>
                <a:cs typeface="Microsoft Sans Serif"/>
              </a:rPr>
              <a:t>day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forecast</a:t>
            </a:r>
            <a:r>
              <a:rPr dirty="0" sz="150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55">
                <a:solidFill>
                  <a:srgbClr val="404155"/>
                </a:solidFill>
                <a:latin typeface="Microsoft Sans Serif"/>
                <a:cs typeface="Microsoft Sans Serif"/>
              </a:rPr>
              <a:t>endpoints.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98956" y="6792569"/>
            <a:ext cx="5286375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404155"/>
                </a:solidFill>
                <a:latin typeface="Verdana"/>
                <a:cs typeface="Verdana"/>
              </a:rPr>
              <a:t>Chart.js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 spc="85">
                <a:solidFill>
                  <a:srgbClr val="404155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50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5">
                <a:solidFill>
                  <a:srgbClr val="404155"/>
                </a:solidFill>
                <a:latin typeface="Microsoft Sans Serif"/>
                <a:cs typeface="Microsoft Sans Serif"/>
              </a:rPr>
              <a:t>temperature</a:t>
            </a:r>
            <a:r>
              <a:rPr dirty="0" sz="150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trend</a:t>
            </a:r>
            <a:r>
              <a:rPr dirty="0" sz="15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charts</a:t>
            </a:r>
            <a:r>
              <a:rPr dirty="0" sz="15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45">
                <a:solidFill>
                  <a:srgbClr val="404155"/>
                </a:solidFill>
                <a:latin typeface="Microsoft Sans Serif"/>
                <a:cs typeface="Microsoft Sans Serif"/>
              </a:rPr>
              <a:t>rendered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9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5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404155"/>
                </a:solidFill>
                <a:latin typeface="Microsoft Sans Serif"/>
                <a:cs typeface="Microsoft Sans Serif"/>
              </a:rPr>
              <a:t>canvas.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83805" y="6792569"/>
            <a:ext cx="5747385" cy="676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50" spc="-10">
                <a:solidFill>
                  <a:srgbClr val="404155"/>
                </a:solidFill>
                <a:latin typeface="Verdana"/>
                <a:cs typeface="Verdana"/>
              </a:rPr>
              <a:t>Leaflet</a:t>
            </a:r>
            <a:r>
              <a:rPr dirty="0" sz="1850" spc="-14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850" spc="-20">
                <a:solidFill>
                  <a:srgbClr val="404155"/>
                </a:solidFill>
                <a:latin typeface="Verdana"/>
                <a:cs typeface="Verdana"/>
              </a:rPr>
              <a:t>Maps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500" spc="85">
                <a:solidFill>
                  <a:srgbClr val="404155"/>
                </a:solidFill>
                <a:latin typeface="Microsoft Sans Serif"/>
                <a:cs typeface="Microsoft Sans Serif"/>
              </a:rPr>
              <a:t>Lightweight</a:t>
            </a:r>
            <a:r>
              <a:rPr dirty="0" sz="1500" spc="-1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5">
                <a:solidFill>
                  <a:srgbClr val="404155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50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70">
                <a:solidFill>
                  <a:srgbClr val="404155"/>
                </a:solidFill>
                <a:latin typeface="Microsoft Sans Serif"/>
                <a:cs typeface="Microsoft Sans Serif"/>
              </a:rPr>
              <a:t>maps</a:t>
            </a:r>
            <a:r>
              <a:rPr dirty="0" sz="15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114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50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04155"/>
                </a:solidFill>
                <a:latin typeface="Microsoft Sans Serif"/>
                <a:cs typeface="Microsoft Sans Serif"/>
              </a:rPr>
              <a:t>dynamic</a:t>
            </a:r>
            <a:r>
              <a:rPr dirty="0" sz="150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80">
                <a:solidFill>
                  <a:srgbClr val="404155"/>
                </a:solidFill>
                <a:latin typeface="Microsoft Sans Serif"/>
                <a:cs typeface="Microsoft Sans Serif"/>
              </a:rPr>
              <a:t>marker</a:t>
            </a:r>
            <a:r>
              <a:rPr dirty="0" sz="15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60">
                <a:solidFill>
                  <a:srgbClr val="404155"/>
                </a:solidFill>
                <a:latin typeface="Microsoft Sans Serif"/>
                <a:cs typeface="Microsoft Sans Serif"/>
              </a:rPr>
              <a:t>placement.</a:t>
            </a:r>
            <a:endParaRPr sz="1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2450592"/>
            <a:ext cx="454152" cy="45110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464" y="2450592"/>
            <a:ext cx="454151" cy="4511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7400" y="2450592"/>
            <a:ext cx="454151" cy="4511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4922519"/>
            <a:ext cx="454152" cy="4541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6464" y="4922519"/>
            <a:ext cx="454151" cy="45415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81304" y="1244041"/>
            <a:ext cx="3618229" cy="7029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90"/>
              <a:t>Key</a:t>
            </a:r>
            <a:r>
              <a:rPr dirty="0" spc="-335"/>
              <a:t> </a:t>
            </a:r>
            <a:r>
              <a:rPr dirty="0" spc="-45"/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18666" y="2502865"/>
            <a:ext cx="3249930" cy="1585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30">
                <a:solidFill>
                  <a:srgbClr val="404155"/>
                </a:solidFill>
                <a:latin typeface="Verdana"/>
                <a:cs typeface="Verdana"/>
              </a:rPr>
              <a:t>City</a:t>
            </a:r>
            <a:r>
              <a:rPr dirty="0" sz="2200" spc="-9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Weather</a:t>
            </a:r>
            <a:r>
              <a:rPr dirty="0" sz="2200" spc="-16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Search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800"/>
              </a:lnSpc>
              <a:spcBef>
                <a:spcPts val="95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Search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any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city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worldwide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instantly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retrieve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current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conditions</a:t>
            </a:r>
            <a:r>
              <a:rPr dirty="0" sz="175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forecast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data.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61634" y="2502865"/>
            <a:ext cx="3424554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55">
                <a:solidFill>
                  <a:srgbClr val="404155"/>
                </a:solidFill>
                <a:latin typeface="Verdana"/>
                <a:cs typeface="Verdana"/>
              </a:rPr>
              <a:t>Auto</a:t>
            </a:r>
            <a:r>
              <a:rPr dirty="0" sz="2200" spc="-10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Location</a:t>
            </a:r>
            <a:r>
              <a:rPr dirty="0" sz="2200" spc="-6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Detection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61634" y="3317095"/>
            <a:ext cx="3366135" cy="112585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8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Uses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-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browser's</a:t>
            </a:r>
            <a:r>
              <a:rPr dirty="0" sz="1750" spc="-114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Geolocation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API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75">
                <a:solidFill>
                  <a:srgbClr val="404155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5">
                <a:solidFill>
                  <a:srgbClr val="404155"/>
                </a:solidFill>
                <a:latin typeface="Microsoft Sans Serif"/>
                <a:cs typeface="Microsoft Sans Serif"/>
              </a:rPr>
              <a:t>detect</a:t>
            </a:r>
            <a:r>
              <a:rPr dirty="0" sz="1750" spc="-1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load</a:t>
            </a:r>
            <a:r>
              <a:rPr dirty="0" sz="175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the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user's</a:t>
            </a:r>
            <a:r>
              <a:rPr dirty="0" sz="1750" spc="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current</a:t>
            </a:r>
            <a:r>
              <a:rPr dirty="0" sz="17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city</a:t>
            </a:r>
            <a:r>
              <a:rPr dirty="0" sz="1750" spc="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launch.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04729" y="2502865"/>
            <a:ext cx="3416300" cy="15855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Current</a:t>
            </a:r>
            <a:r>
              <a:rPr dirty="0" sz="2200" spc="-10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Weather</a:t>
            </a:r>
            <a:r>
              <a:rPr dirty="0" sz="2200" spc="-14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Details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800"/>
              </a:lnSpc>
              <a:spcBef>
                <a:spcPts val="95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Displays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temperature,</a:t>
            </a:r>
            <a:r>
              <a:rPr dirty="0" sz="1750" spc="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humidity,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wind</a:t>
            </a:r>
            <a:r>
              <a:rPr dirty="0" sz="1750" spc="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speed,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75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condition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icons,</a:t>
            </a:r>
            <a:r>
              <a:rPr dirty="0" sz="175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feels-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like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data.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8666" y="4960696"/>
            <a:ext cx="3190875" cy="1956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83895">
              <a:lnSpc>
                <a:spcPct val="105500"/>
              </a:lnSpc>
              <a:spcBef>
                <a:spcPts val="95"/>
              </a:spcBef>
            </a:pP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Weekly</a:t>
            </a:r>
            <a:r>
              <a:rPr dirty="0" sz="2200" spc="-18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404155"/>
                </a:solidFill>
                <a:latin typeface="Verdana"/>
                <a:cs typeface="Verdana"/>
              </a:rPr>
              <a:t>Forecast</a:t>
            </a:r>
            <a:r>
              <a:rPr dirty="0" sz="2200" spc="-17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755">
                <a:solidFill>
                  <a:srgbClr val="404155"/>
                </a:solidFill>
                <a:latin typeface="Verdana"/>
                <a:cs typeface="Verdana"/>
              </a:rPr>
              <a:t>+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 Charts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800"/>
              </a:lnSpc>
              <a:spcBef>
                <a:spcPts val="960"/>
              </a:spcBef>
            </a:pP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7-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day</a:t>
            </a:r>
            <a:r>
              <a:rPr dirty="0" sz="175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0">
                <a:solidFill>
                  <a:srgbClr val="404155"/>
                </a:solidFill>
                <a:latin typeface="Microsoft Sans Serif"/>
                <a:cs typeface="Microsoft Sans Serif"/>
              </a:rPr>
              <a:t>outlook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30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dynamic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Chart.js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graph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showing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daily </a:t>
            </a:r>
            <a:r>
              <a:rPr dirty="0" sz="1750" spc="130">
                <a:solidFill>
                  <a:srgbClr val="404155"/>
                </a:solidFill>
                <a:latin typeface="Microsoft Sans Serif"/>
                <a:cs typeface="Microsoft Sans Serif"/>
              </a:rPr>
              <a:t>high/low</a:t>
            </a:r>
            <a:r>
              <a:rPr dirty="0" sz="175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temperature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trends.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1634" y="4977765"/>
            <a:ext cx="3409950" cy="1584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40">
                <a:solidFill>
                  <a:srgbClr val="404155"/>
                </a:solidFill>
                <a:latin typeface="Verdana"/>
                <a:cs typeface="Verdana"/>
              </a:rPr>
              <a:t>Interactive</a:t>
            </a:r>
            <a:r>
              <a:rPr dirty="0" sz="2200" spc="-114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70">
                <a:solidFill>
                  <a:srgbClr val="404155"/>
                </a:solidFill>
                <a:latin typeface="Verdana"/>
                <a:cs typeface="Verdana"/>
              </a:rPr>
              <a:t>Map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800"/>
              </a:lnSpc>
              <a:spcBef>
                <a:spcPts val="950"/>
              </a:spcBef>
            </a:pP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Leaflet</a:t>
            </a:r>
            <a:r>
              <a:rPr dirty="0" sz="175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map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centers</a:t>
            </a:r>
            <a:r>
              <a:rPr dirty="0" sz="1750" spc="-10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the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user's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30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draggable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marker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5">
                <a:solidFill>
                  <a:srgbClr val="404155"/>
                </a:solidFill>
                <a:latin typeface="Microsoft Sans Serif"/>
                <a:cs typeface="Microsoft Sans Serif"/>
              </a:rPr>
              <a:t>zoom</a:t>
            </a:r>
            <a:r>
              <a:rPr dirty="0" sz="1750" spc="-10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controls.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15895" y="1871471"/>
            <a:ext cx="10198735" cy="4666615"/>
            <a:chOff x="2215895" y="1871471"/>
            <a:chExt cx="10198735" cy="46666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5895" y="1871471"/>
              <a:ext cx="10198608" cy="46664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0088" y="3035807"/>
              <a:ext cx="655320" cy="655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8263" y="3038855"/>
              <a:ext cx="655320" cy="655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9487" y="3038855"/>
              <a:ext cx="655320" cy="6553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95471" y="3038855"/>
              <a:ext cx="655320" cy="655320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313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dirty="0" sz="4250" spc="-85"/>
              <a:t>System</a:t>
            </a:r>
            <a:r>
              <a:rPr dirty="0" sz="4250" spc="-345"/>
              <a:t> </a:t>
            </a:r>
            <a:r>
              <a:rPr dirty="0" sz="4250" spc="45"/>
              <a:t>Architecture</a:t>
            </a:r>
            <a:r>
              <a:rPr dirty="0" sz="4250" spc="-340"/>
              <a:t> </a:t>
            </a:r>
            <a:r>
              <a:rPr dirty="0" sz="4250" spc="-280"/>
              <a:t>&amp;</a:t>
            </a:r>
            <a:r>
              <a:rPr dirty="0" sz="4250" spc="-345"/>
              <a:t> </a:t>
            </a:r>
            <a:r>
              <a:rPr dirty="0" sz="4250" spc="75"/>
              <a:t>Workflow</a:t>
            </a:r>
            <a:endParaRPr sz="4250"/>
          </a:p>
        </p:txBody>
      </p:sp>
      <p:sp>
        <p:nvSpPr>
          <p:cNvPr id="9" name="object 9"/>
          <p:cNvSpPr txBox="1"/>
          <p:nvPr/>
        </p:nvSpPr>
        <p:spPr>
          <a:xfrm>
            <a:off x="10100564" y="5219776"/>
            <a:ext cx="1769110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300" spc="-25">
                <a:solidFill>
                  <a:srgbClr val="404155"/>
                </a:solidFill>
                <a:latin typeface="Verdana"/>
                <a:cs typeface="Verdana"/>
              </a:rPr>
              <a:t>Search</a:t>
            </a:r>
            <a:r>
              <a:rPr dirty="0" sz="2300" spc="-17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300" spc="45">
                <a:solidFill>
                  <a:srgbClr val="404155"/>
                </a:solidFill>
                <a:latin typeface="Verdana"/>
                <a:cs typeface="Verdana"/>
              </a:rPr>
              <a:t>New</a:t>
            </a:r>
            <a:endParaRPr sz="23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125"/>
              </a:spcBef>
            </a:pPr>
            <a:r>
              <a:rPr dirty="0" sz="2300" spc="-20">
                <a:solidFill>
                  <a:srgbClr val="404155"/>
                </a:solidFill>
                <a:latin typeface="Verdana"/>
                <a:cs typeface="Verdana"/>
              </a:rPr>
              <a:t>City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3604" y="5404865"/>
            <a:ext cx="1632585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10">
                <a:solidFill>
                  <a:srgbClr val="404155"/>
                </a:solidFill>
                <a:latin typeface="Verdana"/>
                <a:cs typeface="Verdana"/>
              </a:rPr>
              <a:t>UI</a:t>
            </a:r>
            <a:r>
              <a:rPr dirty="0" sz="2300" spc="-18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300" spc="-10">
                <a:solidFill>
                  <a:srgbClr val="404155"/>
                </a:solidFill>
                <a:latin typeface="Verdana"/>
                <a:cs typeface="Verdana"/>
              </a:rPr>
              <a:t>Updates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92292" y="5219776"/>
            <a:ext cx="1556385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30">
                <a:solidFill>
                  <a:srgbClr val="404155"/>
                </a:solidFill>
                <a:latin typeface="Verdana"/>
                <a:cs typeface="Verdana"/>
              </a:rPr>
              <a:t>JS</a:t>
            </a:r>
            <a:r>
              <a:rPr dirty="0" sz="2300" spc="-19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300" spc="-10">
                <a:solidFill>
                  <a:srgbClr val="404155"/>
                </a:solidFill>
                <a:latin typeface="Verdana"/>
                <a:cs typeface="Verdana"/>
              </a:rPr>
              <a:t>Fetches</a:t>
            </a:r>
            <a:endParaRPr sz="2300">
              <a:latin typeface="Verdana"/>
              <a:cs typeface="Verdana"/>
            </a:endParaRPr>
          </a:p>
          <a:p>
            <a:pPr marL="149860">
              <a:lnSpc>
                <a:spcPct val="100000"/>
              </a:lnSpc>
              <a:spcBef>
                <a:spcPts val="125"/>
              </a:spcBef>
            </a:pPr>
            <a:r>
              <a:rPr dirty="0" sz="2300" spc="-10">
                <a:solidFill>
                  <a:srgbClr val="404155"/>
                </a:solidFill>
                <a:latin typeface="Verdana"/>
                <a:cs typeface="Verdana"/>
              </a:rPr>
              <a:t>Weather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71977" y="5219776"/>
            <a:ext cx="1689735" cy="743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300" spc="-50">
                <a:solidFill>
                  <a:srgbClr val="404155"/>
                </a:solidFill>
                <a:latin typeface="Verdana"/>
                <a:cs typeface="Verdana"/>
              </a:rPr>
              <a:t>User</a:t>
            </a:r>
            <a:r>
              <a:rPr dirty="0" sz="2300" spc="-18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300" spc="-20">
                <a:solidFill>
                  <a:srgbClr val="404155"/>
                </a:solidFill>
                <a:latin typeface="Verdana"/>
                <a:cs typeface="Verdana"/>
              </a:rPr>
              <a:t>Opens</a:t>
            </a:r>
            <a:endParaRPr sz="23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300" spc="85">
                <a:solidFill>
                  <a:srgbClr val="404155"/>
                </a:solidFill>
                <a:latin typeface="Verdana"/>
                <a:cs typeface="Verdana"/>
              </a:rPr>
              <a:t>App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118" y="6716183"/>
            <a:ext cx="12990195" cy="714375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5"/>
                </a:solidFill>
                <a:latin typeface="Microsoft Sans Serif"/>
                <a:cs typeface="Microsoft Sans Serif"/>
              </a:rPr>
              <a:t>app</a:t>
            </a:r>
            <a:r>
              <a:rPr dirty="0" sz="17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5"/>
                </a:solidFill>
                <a:latin typeface="Microsoft Sans Serif"/>
                <a:cs typeface="Microsoft Sans Serif"/>
              </a:rPr>
              <a:t>follows</a:t>
            </a:r>
            <a:r>
              <a:rPr dirty="0" sz="17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clean</a:t>
            </a:r>
            <a:r>
              <a:rPr dirty="0" sz="170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b="1">
                <a:solidFill>
                  <a:srgbClr val="404155"/>
                </a:solidFill>
                <a:latin typeface="Arial"/>
                <a:cs typeface="Arial"/>
              </a:rPr>
              <a:t>client-</a:t>
            </a:r>
            <a:r>
              <a:rPr dirty="0" sz="1700" spc="-70" b="1">
                <a:solidFill>
                  <a:srgbClr val="404155"/>
                </a:solidFill>
                <a:latin typeface="Arial"/>
                <a:cs typeface="Arial"/>
              </a:rPr>
              <a:t>side</a:t>
            </a:r>
            <a:r>
              <a:rPr dirty="0" sz="1700" spc="-110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404155"/>
                </a:solidFill>
                <a:latin typeface="Arial"/>
                <a:cs typeface="Arial"/>
              </a:rPr>
              <a:t>architecture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.</a:t>
            </a:r>
            <a:r>
              <a:rPr dirty="0" sz="17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All</a:t>
            </a:r>
            <a:r>
              <a:rPr dirty="0" sz="170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5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0">
                <a:solidFill>
                  <a:srgbClr val="404155"/>
                </a:solidFill>
                <a:latin typeface="Microsoft Sans Serif"/>
                <a:cs typeface="Microsoft Sans Serif"/>
              </a:rPr>
              <a:t>flows</a:t>
            </a:r>
            <a:r>
              <a:rPr dirty="0" sz="17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55">
                <a:solidFill>
                  <a:srgbClr val="404155"/>
                </a:solidFill>
                <a:latin typeface="Microsoft Sans Serif"/>
                <a:cs typeface="Microsoft Sans Serif"/>
              </a:rPr>
              <a:t>from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0">
                <a:solidFill>
                  <a:srgbClr val="404155"/>
                </a:solidFill>
                <a:latin typeface="Microsoft Sans Serif"/>
                <a:cs typeface="Microsoft Sans Serif"/>
              </a:rPr>
              <a:t>OpenWeather</a:t>
            </a:r>
            <a:r>
              <a:rPr dirty="0" sz="17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5"/>
                </a:solidFill>
                <a:latin typeface="Microsoft Sans Serif"/>
                <a:cs typeface="Microsoft Sans Serif"/>
              </a:rPr>
              <a:t>API</a:t>
            </a:r>
            <a:r>
              <a:rPr dirty="0" sz="1700" spc="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5"/>
                </a:solidFill>
                <a:latin typeface="Microsoft Sans Serif"/>
                <a:cs typeface="Microsoft Sans Serif"/>
              </a:rPr>
              <a:t>through</a:t>
            </a:r>
            <a:r>
              <a:rPr dirty="0" sz="170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JavaScript,</a:t>
            </a:r>
            <a:r>
              <a:rPr dirty="0" sz="17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5"/>
                </a:solidFill>
                <a:latin typeface="Microsoft Sans Serif"/>
                <a:cs typeface="Microsoft Sans Serif"/>
              </a:rPr>
              <a:t>which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700" spc="70">
                <a:solidFill>
                  <a:srgbClr val="404155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70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404155"/>
                </a:solidFill>
                <a:latin typeface="Microsoft Sans Serif"/>
                <a:cs typeface="Microsoft Sans Serif"/>
              </a:rPr>
              <a:t>updates</a:t>
            </a:r>
            <a:r>
              <a:rPr dirty="0" sz="170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DOM,</a:t>
            </a:r>
            <a:r>
              <a:rPr dirty="0" sz="170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404155"/>
                </a:solidFill>
                <a:latin typeface="Microsoft Sans Serif"/>
                <a:cs typeface="Microsoft Sans Serif"/>
              </a:rPr>
              <a:t>renders</a:t>
            </a:r>
            <a:r>
              <a:rPr dirty="0" sz="170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Chart.js</a:t>
            </a:r>
            <a:r>
              <a:rPr dirty="0" sz="1700" spc="-114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5"/>
                </a:solidFill>
                <a:latin typeface="Microsoft Sans Serif"/>
                <a:cs typeface="Microsoft Sans Serif"/>
              </a:rPr>
              <a:t>graph,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5"/>
                </a:solidFill>
                <a:latin typeface="Microsoft Sans Serif"/>
                <a:cs typeface="Microsoft Sans Serif"/>
              </a:rPr>
              <a:t>repositions</a:t>
            </a:r>
            <a:r>
              <a:rPr dirty="0" sz="170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0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5"/>
                </a:solidFill>
                <a:latin typeface="Microsoft Sans Serif"/>
                <a:cs typeface="Microsoft Sans Serif"/>
              </a:rPr>
              <a:t>Leaflet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5"/>
                </a:solidFill>
                <a:latin typeface="Microsoft Sans Serif"/>
                <a:cs typeface="Microsoft Sans Serif"/>
              </a:rPr>
              <a:t>map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10">
                <a:solidFill>
                  <a:srgbClr val="404155"/>
                </a:solidFill>
                <a:latin typeface="Microsoft Sans Serif"/>
                <a:cs typeface="Microsoft Sans Serif"/>
              </a:rPr>
              <a:t>marker</a:t>
            </a:r>
            <a:r>
              <a:rPr dirty="0" sz="170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—</a:t>
            </a:r>
            <a:r>
              <a:rPr dirty="0" sz="170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all</a:t>
            </a:r>
            <a:r>
              <a:rPr dirty="0" sz="170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30">
                <a:solidFill>
                  <a:srgbClr val="404155"/>
                </a:solidFill>
                <a:latin typeface="Microsoft Sans Serif"/>
                <a:cs typeface="Microsoft Sans Serif"/>
              </a:rPr>
              <a:t>without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5"/>
                </a:solidFill>
                <a:latin typeface="Microsoft Sans Serif"/>
                <a:cs typeface="Microsoft Sans Serif"/>
              </a:rPr>
              <a:t>page</a:t>
            </a:r>
            <a:r>
              <a:rPr dirty="0" sz="170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5"/>
                </a:solidFill>
                <a:latin typeface="Microsoft Sans Serif"/>
                <a:cs typeface="Microsoft Sans Serif"/>
              </a:rPr>
              <a:t>reload.</a:t>
            </a:r>
            <a:endParaRPr sz="1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7527" y="1752600"/>
            <a:ext cx="3782695" cy="1496695"/>
            <a:chOff x="1557527" y="1752600"/>
            <a:chExt cx="3782695" cy="1496695"/>
          </a:xfrm>
        </p:grpSpPr>
        <p:sp>
          <p:nvSpPr>
            <p:cNvPr id="3" name="object 3"/>
            <p:cNvSpPr/>
            <p:nvPr/>
          </p:nvSpPr>
          <p:spPr>
            <a:xfrm>
              <a:off x="1569719" y="1764791"/>
              <a:ext cx="3758565" cy="1472565"/>
            </a:xfrm>
            <a:custGeom>
              <a:avLst/>
              <a:gdLst/>
              <a:ahLst/>
              <a:cxnLst/>
              <a:rect l="l" t="t" r="r" b="b"/>
              <a:pathLst>
                <a:path w="3758565" h="1472564">
                  <a:moveTo>
                    <a:pt x="3688079" y="0"/>
                  </a:moveTo>
                  <a:lnTo>
                    <a:pt x="70104" y="0"/>
                  </a:lnTo>
                  <a:lnTo>
                    <a:pt x="42808" y="5506"/>
                  </a:lnTo>
                  <a:lnTo>
                    <a:pt x="20526" y="20526"/>
                  </a:lnTo>
                  <a:lnTo>
                    <a:pt x="5506" y="42808"/>
                  </a:lnTo>
                  <a:lnTo>
                    <a:pt x="0" y="70104"/>
                  </a:lnTo>
                  <a:lnTo>
                    <a:pt x="0" y="1402080"/>
                  </a:lnTo>
                  <a:lnTo>
                    <a:pt x="5506" y="1429375"/>
                  </a:lnTo>
                  <a:lnTo>
                    <a:pt x="20526" y="1451657"/>
                  </a:lnTo>
                  <a:lnTo>
                    <a:pt x="42808" y="1466677"/>
                  </a:lnTo>
                  <a:lnTo>
                    <a:pt x="70104" y="1472184"/>
                  </a:lnTo>
                  <a:lnTo>
                    <a:pt x="3688079" y="1472184"/>
                  </a:lnTo>
                  <a:lnTo>
                    <a:pt x="3715375" y="1466677"/>
                  </a:lnTo>
                  <a:lnTo>
                    <a:pt x="3737657" y="1451657"/>
                  </a:lnTo>
                  <a:lnTo>
                    <a:pt x="3752677" y="1429375"/>
                  </a:lnTo>
                  <a:lnTo>
                    <a:pt x="3758183" y="1402080"/>
                  </a:lnTo>
                  <a:lnTo>
                    <a:pt x="3758183" y="70104"/>
                  </a:lnTo>
                  <a:lnTo>
                    <a:pt x="3752677" y="42808"/>
                  </a:lnTo>
                  <a:lnTo>
                    <a:pt x="3737657" y="20526"/>
                  </a:lnTo>
                  <a:lnTo>
                    <a:pt x="3715375" y="5506"/>
                  </a:lnTo>
                  <a:lnTo>
                    <a:pt x="3688079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69719" y="1764791"/>
              <a:ext cx="3758565" cy="1472565"/>
            </a:xfrm>
            <a:custGeom>
              <a:avLst/>
              <a:gdLst/>
              <a:ahLst/>
              <a:cxnLst/>
              <a:rect l="l" t="t" r="r" b="b"/>
              <a:pathLst>
                <a:path w="3758565" h="1472564">
                  <a:moveTo>
                    <a:pt x="0" y="70104"/>
                  </a:moveTo>
                  <a:lnTo>
                    <a:pt x="5506" y="42808"/>
                  </a:lnTo>
                  <a:lnTo>
                    <a:pt x="20526" y="20526"/>
                  </a:lnTo>
                  <a:lnTo>
                    <a:pt x="42808" y="5506"/>
                  </a:lnTo>
                  <a:lnTo>
                    <a:pt x="70104" y="0"/>
                  </a:lnTo>
                  <a:lnTo>
                    <a:pt x="3688079" y="0"/>
                  </a:lnTo>
                  <a:lnTo>
                    <a:pt x="3715375" y="5506"/>
                  </a:lnTo>
                  <a:lnTo>
                    <a:pt x="3737657" y="20526"/>
                  </a:lnTo>
                  <a:lnTo>
                    <a:pt x="3752677" y="42808"/>
                  </a:lnTo>
                  <a:lnTo>
                    <a:pt x="3758183" y="70104"/>
                  </a:lnTo>
                  <a:lnTo>
                    <a:pt x="3758183" y="1402080"/>
                  </a:lnTo>
                  <a:lnTo>
                    <a:pt x="3752677" y="1429375"/>
                  </a:lnTo>
                  <a:lnTo>
                    <a:pt x="3737657" y="1451657"/>
                  </a:lnTo>
                  <a:lnTo>
                    <a:pt x="3715375" y="1466677"/>
                  </a:lnTo>
                  <a:lnTo>
                    <a:pt x="3688079" y="1472184"/>
                  </a:lnTo>
                  <a:lnTo>
                    <a:pt x="70104" y="1472184"/>
                  </a:lnTo>
                  <a:lnTo>
                    <a:pt x="42808" y="1466677"/>
                  </a:lnTo>
                  <a:lnTo>
                    <a:pt x="20526" y="1451657"/>
                  </a:lnTo>
                  <a:lnTo>
                    <a:pt x="5506" y="1429375"/>
                  </a:lnTo>
                  <a:lnTo>
                    <a:pt x="0" y="1402080"/>
                  </a:lnTo>
                  <a:lnTo>
                    <a:pt x="0" y="70104"/>
                  </a:lnTo>
                  <a:close/>
                </a:path>
              </a:pathLst>
            </a:custGeom>
            <a:ln w="2438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557527" y="3346703"/>
            <a:ext cx="3782695" cy="1277620"/>
            <a:chOff x="1557527" y="3346703"/>
            <a:chExt cx="3782695" cy="1277620"/>
          </a:xfrm>
        </p:grpSpPr>
        <p:sp>
          <p:nvSpPr>
            <p:cNvPr id="6" name="object 6"/>
            <p:cNvSpPr/>
            <p:nvPr/>
          </p:nvSpPr>
          <p:spPr>
            <a:xfrm>
              <a:off x="1569719" y="3358895"/>
              <a:ext cx="3758565" cy="1252855"/>
            </a:xfrm>
            <a:custGeom>
              <a:avLst/>
              <a:gdLst/>
              <a:ahLst/>
              <a:cxnLst/>
              <a:rect l="l" t="t" r="r" b="b"/>
              <a:pathLst>
                <a:path w="3758565" h="1252854">
                  <a:moveTo>
                    <a:pt x="3688333" y="0"/>
                  </a:moveTo>
                  <a:lnTo>
                    <a:pt x="69850" y="0"/>
                  </a:lnTo>
                  <a:lnTo>
                    <a:pt x="42648" y="5484"/>
                  </a:lnTo>
                  <a:lnTo>
                    <a:pt x="20447" y="20446"/>
                  </a:lnTo>
                  <a:lnTo>
                    <a:pt x="5484" y="42648"/>
                  </a:lnTo>
                  <a:lnTo>
                    <a:pt x="0" y="69850"/>
                  </a:lnTo>
                  <a:lnTo>
                    <a:pt x="0" y="1182877"/>
                  </a:lnTo>
                  <a:lnTo>
                    <a:pt x="5484" y="1210079"/>
                  </a:lnTo>
                  <a:lnTo>
                    <a:pt x="20446" y="1232280"/>
                  </a:lnTo>
                  <a:lnTo>
                    <a:pt x="42648" y="1247243"/>
                  </a:lnTo>
                  <a:lnTo>
                    <a:pt x="69850" y="1252727"/>
                  </a:lnTo>
                  <a:lnTo>
                    <a:pt x="3688333" y="1252727"/>
                  </a:lnTo>
                  <a:lnTo>
                    <a:pt x="3715535" y="1247243"/>
                  </a:lnTo>
                  <a:lnTo>
                    <a:pt x="3737736" y="1232281"/>
                  </a:lnTo>
                  <a:lnTo>
                    <a:pt x="3752699" y="1210079"/>
                  </a:lnTo>
                  <a:lnTo>
                    <a:pt x="3758183" y="1182877"/>
                  </a:lnTo>
                  <a:lnTo>
                    <a:pt x="3758183" y="69850"/>
                  </a:lnTo>
                  <a:lnTo>
                    <a:pt x="3752699" y="42648"/>
                  </a:lnTo>
                  <a:lnTo>
                    <a:pt x="3737737" y="20447"/>
                  </a:lnTo>
                  <a:lnTo>
                    <a:pt x="3715535" y="5484"/>
                  </a:lnTo>
                  <a:lnTo>
                    <a:pt x="3688333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69719" y="3358895"/>
              <a:ext cx="3758565" cy="1252855"/>
            </a:xfrm>
            <a:custGeom>
              <a:avLst/>
              <a:gdLst/>
              <a:ahLst/>
              <a:cxnLst/>
              <a:rect l="l" t="t" r="r" b="b"/>
              <a:pathLst>
                <a:path w="3758565" h="1252854">
                  <a:moveTo>
                    <a:pt x="0" y="69850"/>
                  </a:moveTo>
                  <a:lnTo>
                    <a:pt x="5484" y="42648"/>
                  </a:lnTo>
                  <a:lnTo>
                    <a:pt x="20447" y="20446"/>
                  </a:lnTo>
                  <a:lnTo>
                    <a:pt x="42648" y="5484"/>
                  </a:lnTo>
                  <a:lnTo>
                    <a:pt x="69850" y="0"/>
                  </a:lnTo>
                  <a:lnTo>
                    <a:pt x="3688333" y="0"/>
                  </a:lnTo>
                  <a:lnTo>
                    <a:pt x="3715535" y="5484"/>
                  </a:lnTo>
                  <a:lnTo>
                    <a:pt x="3737737" y="20447"/>
                  </a:lnTo>
                  <a:lnTo>
                    <a:pt x="3752699" y="42648"/>
                  </a:lnTo>
                  <a:lnTo>
                    <a:pt x="3758183" y="69850"/>
                  </a:lnTo>
                  <a:lnTo>
                    <a:pt x="3758183" y="1182877"/>
                  </a:lnTo>
                  <a:lnTo>
                    <a:pt x="3752699" y="1210079"/>
                  </a:lnTo>
                  <a:lnTo>
                    <a:pt x="3737736" y="1232281"/>
                  </a:lnTo>
                  <a:lnTo>
                    <a:pt x="3715535" y="1247243"/>
                  </a:lnTo>
                  <a:lnTo>
                    <a:pt x="3688333" y="1252727"/>
                  </a:lnTo>
                  <a:lnTo>
                    <a:pt x="69850" y="1252727"/>
                  </a:lnTo>
                  <a:lnTo>
                    <a:pt x="42648" y="1247243"/>
                  </a:lnTo>
                  <a:lnTo>
                    <a:pt x="20446" y="1232280"/>
                  </a:lnTo>
                  <a:lnTo>
                    <a:pt x="5484" y="1210079"/>
                  </a:lnTo>
                  <a:lnTo>
                    <a:pt x="0" y="1182877"/>
                  </a:lnTo>
                  <a:lnTo>
                    <a:pt x="0" y="69850"/>
                  </a:lnTo>
                  <a:close/>
                </a:path>
              </a:pathLst>
            </a:custGeom>
            <a:ln w="24383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557527" y="4721352"/>
            <a:ext cx="3782695" cy="1481455"/>
            <a:chOff x="1557527" y="4721352"/>
            <a:chExt cx="3782695" cy="1481455"/>
          </a:xfrm>
        </p:grpSpPr>
        <p:sp>
          <p:nvSpPr>
            <p:cNvPr id="9" name="object 9"/>
            <p:cNvSpPr/>
            <p:nvPr/>
          </p:nvSpPr>
          <p:spPr>
            <a:xfrm>
              <a:off x="1569719" y="4733544"/>
              <a:ext cx="3758565" cy="1457325"/>
            </a:xfrm>
            <a:custGeom>
              <a:avLst/>
              <a:gdLst/>
              <a:ahLst/>
              <a:cxnLst/>
              <a:rect l="l" t="t" r="r" b="b"/>
              <a:pathLst>
                <a:path w="3758565" h="1457325">
                  <a:moveTo>
                    <a:pt x="3688079" y="0"/>
                  </a:moveTo>
                  <a:lnTo>
                    <a:pt x="70104" y="0"/>
                  </a:lnTo>
                  <a:lnTo>
                    <a:pt x="42808" y="5506"/>
                  </a:lnTo>
                  <a:lnTo>
                    <a:pt x="20526" y="20526"/>
                  </a:lnTo>
                  <a:lnTo>
                    <a:pt x="5506" y="42808"/>
                  </a:lnTo>
                  <a:lnTo>
                    <a:pt x="0" y="70103"/>
                  </a:lnTo>
                  <a:lnTo>
                    <a:pt x="0" y="1386839"/>
                  </a:lnTo>
                  <a:lnTo>
                    <a:pt x="5506" y="1414135"/>
                  </a:lnTo>
                  <a:lnTo>
                    <a:pt x="20526" y="1436417"/>
                  </a:lnTo>
                  <a:lnTo>
                    <a:pt x="42808" y="1451437"/>
                  </a:lnTo>
                  <a:lnTo>
                    <a:pt x="70104" y="1456943"/>
                  </a:lnTo>
                  <a:lnTo>
                    <a:pt x="3688079" y="1456943"/>
                  </a:lnTo>
                  <a:lnTo>
                    <a:pt x="3715375" y="1451437"/>
                  </a:lnTo>
                  <a:lnTo>
                    <a:pt x="3737657" y="1436417"/>
                  </a:lnTo>
                  <a:lnTo>
                    <a:pt x="3752677" y="1414135"/>
                  </a:lnTo>
                  <a:lnTo>
                    <a:pt x="3758183" y="1386839"/>
                  </a:lnTo>
                  <a:lnTo>
                    <a:pt x="3758183" y="70103"/>
                  </a:lnTo>
                  <a:lnTo>
                    <a:pt x="3752677" y="42808"/>
                  </a:lnTo>
                  <a:lnTo>
                    <a:pt x="3737657" y="20526"/>
                  </a:lnTo>
                  <a:lnTo>
                    <a:pt x="3715375" y="5506"/>
                  </a:lnTo>
                  <a:lnTo>
                    <a:pt x="3688079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69719" y="4733544"/>
              <a:ext cx="3758565" cy="1457325"/>
            </a:xfrm>
            <a:custGeom>
              <a:avLst/>
              <a:gdLst/>
              <a:ahLst/>
              <a:cxnLst/>
              <a:rect l="l" t="t" r="r" b="b"/>
              <a:pathLst>
                <a:path w="3758565" h="1457325">
                  <a:moveTo>
                    <a:pt x="0" y="70103"/>
                  </a:moveTo>
                  <a:lnTo>
                    <a:pt x="5506" y="42808"/>
                  </a:lnTo>
                  <a:lnTo>
                    <a:pt x="20526" y="20526"/>
                  </a:lnTo>
                  <a:lnTo>
                    <a:pt x="42808" y="5506"/>
                  </a:lnTo>
                  <a:lnTo>
                    <a:pt x="70104" y="0"/>
                  </a:lnTo>
                  <a:lnTo>
                    <a:pt x="3688079" y="0"/>
                  </a:lnTo>
                  <a:lnTo>
                    <a:pt x="3715375" y="5506"/>
                  </a:lnTo>
                  <a:lnTo>
                    <a:pt x="3737657" y="20526"/>
                  </a:lnTo>
                  <a:lnTo>
                    <a:pt x="3752677" y="42808"/>
                  </a:lnTo>
                  <a:lnTo>
                    <a:pt x="3758183" y="70103"/>
                  </a:lnTo>
                  <a:lnTo>
                    <a:pt x="3758183" y="1386839"/>
                  </a:lnTo>
                  <a:lnTo>
                    <a:pt x="3752677" y="1414135"/>
                  </a:lnTo>
                  <a:lnTo>
                    <a:pt x="3737657" y="1436417"/>
                  </a:lnTo>
                  <a:lnTo>
                    <a:pt x="3715375" y="1451437"/>
                  </a:lnTo>
                  <a:lnTo>
                    <a:pt x="3688079" y="1456943"/>
                  </a:lnTo>
                  <a:lnTo>
                    <a:pt x="70104" y="1456943"/>
                  </a:lnTo>
                  <a:lnTo>
                    <a:pt x="42808" y="1451437"/>
                  </a:lnTo>
                  <a:lnTo>
                    <a:pt x="20526" y="1436417"/>
                  </a:lnTo>
                  <a:lnTo>
                    <a:pt x="5506" y="1414135"/>
                  </a:lnTo>
                  <a:lnTo>
                    <a:pt x="0" y="1386839"/>
                  </a:lnTo>
                  <a:lnTo>
                    <a:pt x="0" y="70103"/>
                  </a:lnTo>
                  <a:close/>
                </a:path>
              </a:pathLst>
            </a:custGeom>
            <a:ln w="2438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557527" y="6300215"/>
            <a:ext cx="3782695" cy="1262380"/>
            <a:chOff x="1557527" y="6300215"/>
            <a:chExt cx="3782695" cy="1262380"/>
          </a:xfrm>
        </p:grpSpPr>
        <p:sp>
          <p:nvSpPr>
            <p:cNvPr id="12" name="object 12"/>
            <p:cNvSpPr/>
            <p:nvPr/>
          </p:nvSpPr>
          <p:spPr>
            <a:xfrm>
              <a:off x="1569719" y="6312407"/>
              <a:ext cx="3758565" cy="1237615"/>
            </a:xfrm>
            <a:custGeom>
              <a:avLst/>
              <a:gdLst/>
              <a:ahLst/>
              <a:cxnLst/>
              <a:rect l="l" t="t" r="r" b="b"/>
              <a:pathLst>
                <a:path w="3758565" h="1237615">
                  <a:moveTo>
                    <a:pt x="3688333" y="0"/>
                  </a:moveTo>
                  <a:lnTo>
                    <a:pt x="69850" y="0"/>
                  </a:lnTo>
                  <a:lnTo>
                    <a:pt x="42648" y="5484"/>
                  </a:lnTo>
                  <a:lnTo>
                    <a:pt x="20447" y="20447"/>
                  </a:lnTo>
                  <a:lnTo>
                    <a:pt x="5484" y="42648"/>
                  </a:lnTo>
                  <a:lnTo>
                    <a:pt x="0" y="69850"/>
                  </a:lnTo>
                  <a:lnTo>
                    <a:pt x="0" y="1167599"/>
                  </a:lnTo>
                  <a:lnTo>
                    <a:pt x="5484" y="1194802"/>
                  </a:lnTo>
                  <a:lnTo>
                    <a:pt x="20446" y="1217017"/>
                  </a:lnTo>
                  <a:lnTo>
                    <a:pt x="42648" y="1231995"/>
                  </a:lnTo>
                  <a:lnTo>
                    <a:pt x="69850" y="1237488"/>
                  </a:lnTo>
                  <a:lnTo>
                    <a:pt x="3688333" y="1237488"/>
                  </a:lnTo>
                  <a:lnTo>
                    <a:pt x="3715535" y="1231995"/>
                  </a:lnTo>
                  <a:lnTo>
                    <a:pt x="3737736" y="1217017"/>
                  </a:lnTo>
                  <a:lnTo>
                    <a:pt x="3752699" y="1194802"/>
                  </a:lnTo>
                  <a:lnTo>
                    <a:pt x="3758183" y="1167599"/>
                  </a:lnTo>
                  <a:lnTo>
                    <a:pt x="3758183" y="69850"/>
                  </a:lnTo>
                  <a:lnTo>
                    <a:pt x="3752699" y="42648"/>
                  </a:lnTo>
                  <a:lnTo>
                    <a:pt x="3737737" y="20447"/>
                  </a:lnTo>
                  <a:lnTo>
                    <a:pt x="3715535" y="5484"/>
                  </a:lnTo>
                  <a:lnTo>
                    <a:pt x="3688333" y="0"/>
                  </a:lnTo>
                  <a:close/>
                </a:path>
              </a:pathLst>
            </a:custGeom>
            <a:solidFill>
              <a:srgbClr val="F8F8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69719" y="6312407"/>
              <a:ext cx="3758565" cy="1237615"/>
            </a:xfrm>
            <a:custGeom>
              <a:avLst/>
              <a:gdLst/>
              <a:ahLst/>
              <a:cxnLst/>
              <a:rect l="l" t="t" r="r" b="b"/>
              <a:pathLst>
                <a:path w="3758565" h="1237615">
                  <a:moveTo>
                    <a:pt x="0" y="69850"/>
                  </a:moveTo>
                  <a:lnTo>
                    <a:pt x="5484" y="42648"/>
                  </a:lnTo>
                  <a:lnTo>
                    <a:pt x="20447" y="20447"/>
                  </a:lnTo>
                  <a:lnTo>
                    <a:pt x="42648" y="5484"/>
                  </a:lnTo>
                  <a:lnTo>
                    <a:pt x="69850" y="0"/>
                  </a:lnTo>
                  <a:lnTo>
                    <a:pt x="3688333" y="0"/>
                  </a:lnTo>
                  <a:lnTo>
                    <a:pt x="3715535" y="5484"/>
                  </a:lnTo>
                  <a:lnTo>
                    <a:pt x="3737737" y="20447"/>
                  </a:lnTo>
                  <a:lnTo>
                    <a:pt x="3752699" y="42648"/>
                  </a:lnTo>
                  <a:lnTo>
                    <a:pt x="3758183" y="69850"/>
                  </a:lnTo>
                  <a:lnTo>
                    <a:pt x="3758183" y="1167599"/>
                  </a:lnTo>
                  <a:lnTo>
                    <a:pt x="3752699" y="1194802"/>
                  </a:lnTo>
                  <a:lnTo>
                    <a:pt x="3737736" y="1217017"/>
                  </a:lnTo>
                  <a:lnTo>
                    <a:pt x="3715535" y="1231995"/>
                  </a:lnTo>
                  <a:lnTo>
                    <a:pt x="3688333" y="1237488"/>
                  </a:lnTo>
                  <a:lnTo>
                    <a:pt x="69850" y="1237488"/>
                  </a:lnTo>
                  <a:lnTo>
                    <a:pt x="42648" y="1231995"/>
                  </a:lnTo>
                  <a:lnTo>
                    <a:pt x="20446" y="1217017"/>
                  </a:lnTo>
                  <a:lnTo>
                    <a:pt x="5484" y="1194802"/>
                  </a:lnTo>
                  <a:lnTo>
                    <a:pt x="0" y="1167599"/>
                  </a:lnTo>
                  <a:lnTo>
                    <a:pt x="0" y="69850"/>
                  </a:lnTo>
                  <a:close/>
                </a:path>
              </a:pathLst>
            </a:custGeom>
            <a:ln w="2438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9384" y="2389632"/>
            <a:ext cx="7330440" cy="4154424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1555750" y="507568"/>
            <a:ext cx="6590030" cy="5200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50"/>
              <a:t>Code</a:t>
            </a:r>
            <a:r>
              <a:rPr dirty="0" sz="3250" spc="35"/>
              <a:t> </a:t>
            </a:r>
            <a:r>
              <a:rPr dirty="0" sz="3250"/>
              <a:t>Implementation</a:t>
            </a:r>
            <a:r>
              <a:rPr dirty="0" sz="3250" spc="65"/>
              <a:t> </a:t>
            </a:r>
            <a:r>
              <a:rPr dirty="0" sz="3250" spc="-10"/>
              <a:t>Overview</a:t>
            </a:r>
            <a:endParaRPr sz="3250"/>
          </a:p>
        </p:txBody>
      </p:sp>
      <p:sp>
        <p:nvSpPr>
          <p:cNvPr id="16" name="object 16"/>
          <p:cNvSpPr txBox="1"/>
          <p:nvPr/>
        </p:nvSpPr>
        <p:spPr>
          <a:xfrm>
            <a:off x="1555750" y="1343660"/>
            <a:ext cx="2193290" cy="8585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0">
                <a:solidFill>
                  <a:srgbClr val="1B1B27"/>
                </a:solidFill>
                <a:latin typeface="Verdana"/>
                <a:cs typeface="Verdana"/>
              </a:rPr>
              <a:t>Core</a:t>
            </a:r>
            <a:r>
              <a:rPr dirty="0" sz="1600" spc="-130">
                <a:solidFill>
                  <a:srgbClr val="1B1B27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1B1B27"/>
                </a:solidFill>
                <a:latin typeface="Verdana"/>
                <a:cs typeface="Verdana"/>
              </a:rPr>
              <a:t>JavaScript</a:t>
            </a:r>
            <a:r>
              <a:rPr dirty="0" sz="1600" spc="-130">
                <a:solidFill>
                  <a:srgbClr val="1B1B27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1B1B27"/>
                </a:solidFill>
                <a:latin typeface="Verdana"/>
                <a:cs typeface="Verdana"/>
              </a:rPr>
              <a:t>Logic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600">
              <a:latin typeface="Verdana"/>
              <a:cs typeface="Verdana"/>
            </a:endParaRPr>
          </a:p>
          <a:p>
            <a:pPr marL="201930">
              <a:lnSpc>
                <a:spcPct val="100000"/>
              </a:lnSpc>
            </a:pPr>
            <a:r>
              <a:rPr dirty="0" sz="1600" spc="-10">
                <a:solidFill>
                  <a:srgbClr val="404155"/>
                </a:solidFill>
                <a:latin typeface="Verdana"/>
                <a:cs typeface="Verdana"/>
              </a:rPr>
              <a:t>Geolocation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7679" y="2356104"/>
            <a:ext cx="3359785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5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navigator.geolocation.getCurrentPosit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7679" y="2584704"/>
            <a:ext cx="457200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65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ion()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39136" y="2560700"/>
            <a:ext cx="28181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20">
                <a:solidFill>
                  <a:srgbClr val="404155"/>
                </a:solidFill>
                <a:latin typeface="Microsoft Sans Serif"/>
                <a:cs typeface="Microsoft Sans Serif"/>
              </a:rPr>
              <a:t>retrieves</a:t>
            </a:r>
            <a:r>
              <a:rPr dirty="0" sz="1300" spc="2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20">
                <a:solidFill>
                  <a:srgbClr val="404155"/>
                </a:solidFill>
                <a:latin typeface="Microsoft Sans Serif"/>
                <a:cs typeface="Microsoft Sans Serif"/>
              </a:rPr>
              <a:t>coordinates,</a:t>
            </a:r>
            <a:r>
              <a:rPr dirty="0" sz="1300" spc="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75">
                <a:solidFill>
                  <a:srgbClr val="404155"/>
                </a:solidFill>
                <a:latin typeface="Microsoft Sans Serif"/>
                <a:cs typeface="Microsoft Sans Serif"/>
              </a:rPr>
              <a:t>then</a:t>
            </a:r>
            <a:r>
              <a:rPr dirty="0" sz="1300" spc="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04155"/>
                </a:solidFill>
                <a:latin typeface="Microsoft Sans Serif"/>
                <a:cs typeface="Microsoft Sans Serif"/>
              </a:rPr>
              <a:t>reverse-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45360" y="2788996"/>
            <a:ext cx="14503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geocoded</a:t>
            </a:r>
            <a:r>
              <a:rPr dirty="0" sz="1300" spc="2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via</a:t>
            </a:r>
            <a:r>
              <a:rPr dirty="0" sz="1300" spc="1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04155"/>
                </a:solidFill>
                <a:latin typeface="Microsoft Sans Serif"/>
                <a:cs typeface="Microsoft Sans Serif"/>
              </a:rPr>
              <a:t>API.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5360" y="3523869"/>
            <a:ext cx="100012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404155"/>
                </a:solidFill>
                <a:latin typeface="Verdana"/>
                <a:cs typeface="Verdana"/>
              </a:rPr>
              <a:t>API</a:t>
            </a:r>
            <a:r>
              <a:rPr dirty="0" sz="1600" spc="-13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404155"/>
                </a:solidFill>
                <a:latin typeface="Verdana"/>
                <a:cs typeface="Verdana"/>
              </a:rPr>
              <a:t>Fetch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57679" y="3948303"/>
            <a:ext cx="640080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75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fetch()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19350" y="3925061"/>
            <a:ext cx="162813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calls</a:t>
            </a:r>
            <a:r>
              <a:rPr dirty="0" sz="130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04155"/>
                </a:solidFill>
                <a:latin typeface="Microsoft Sans Serif"/>
                <a:cs typeface="Microsoft Sans Serif"/>
              </a:rPr>
              <a:t>OpenWeather's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83303" y="3948303"/>
            <a:ext cx="744220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475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/weather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45360" y="4153661"/>
            <a:ext cx="3276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5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99055" y="4170807"/>
            <a:ext cx="822960" cy="20764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20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/forecast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3605" y="4153661"/>
            <a:ext cx="21990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55">
                <a:solidFill>
                  <a:srgbClr val="404155"/>
                </a:solidFill>
                <a:latin typeface="Microsoft Sans Serif"/>
                <a:cs typeface="Microsoft Sans Serif"/>
              </a:rPr>
              <a:t>endpoints</a:t>
            </a:r>
            <a:r>
              <a:rPr dirty="0" sz="13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5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30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API</a:t>
            </a:r>
            <a:r>
              <a:rPr dirty="0" sz="1300" spc="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404155"/>
                </a:solidFill>
                <a:latin typeface="Microsoft Sans Serif"/>
                <a:cs typeface="Microsoft Sans Serif"/>
              </a:rPr>
              <a:t>key.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5360" y="4900371"/>
            <a:ext cx="3181985" cy="10820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0">
                <a:solidFill>
                  <a:srgbClr val="404155"/>
                </a:solidFill>
                <a:latin typeface="Verdana"/>
                <a:cs typeface="Verdana"/>
              </a:rPr>
              <a:t>Chart</a:t>
            </a:r>
            <a:r>
              <a:rPr dirty="0" sz="1600" spc="-10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04155"/>
                </a:solidFill>
                <a:latin typeface="Verdana"/>
                <a:cs typeface="Verdana"/>
              </a:rPr>
              <a:t>Rendering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15399"/>
              </a:lnSpc>
              <a:spcBef>
                <a:spcPts val="985"/>
              </a:spcBef>
            </a:pP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Chart.js</a:t>
            </a:r>
            <a:r>
              <a:rPr dirty="0" sz="1300" spc="10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initialized</a:t>
            </a:r>
            <a:r>
              <a:rPr dirty="0" sz="1300" spc="2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5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300" spc="1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5">
                <a:solidFill>
                  <a:srgbClr val="404155"/>
                </a:solidFill>
                <a:latin typeface="Microsoft Sans Serif"/>
                <a:cs typeface="Microsoft Sans Serif"/>
              </a:rPr>
              <a:t>forecast</a:t>
            </a:r>
            <a:r>
              <a:rPr dirty="0" sz="1300" spc="1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5">
                <a:solidFill>
                  <a:srgbClr val="404155"/>
                </a:solidFill>
                <a:latin typeface="Microsoft Sans Serif"/>
                <a:cs typeface="Microsoft Sans Serif"/>
              </a:rPr>
              <a:t>data </a:t>
            </a: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arrays</a:t>
            </a:r>
            <a:r>
              <a:rPr dirty="0" sz="1300" spc="1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105">
                <a:solidFill>
                  <a:srgbClr val="404155"/>
                </a:solidFill>
                <a:latin typeface="Microsoft Sans Serif"/>
                <a:cs typeface="Microsoft Sans Serif"/>
              </a:rPr>
              <a:t>for</a:t>
            </a:r>
            <a:r>
              <a:rPr dirty="0" sz="1300" spc="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404155"/>
                </a:solidFill>
                <a:latin typeface="Microsoft Sans Serif"/>
                <a:cs typeface="Microsoft Sans Serif"/>
              </a:rPr>
              <a:t>daily</a:t>
            </a:r>
            <a:r>
              <a:rPr dirty="0" sz="1300" spc="1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b="1">
                <a:solidFill>
                  <a:srgbClr val="404155"/>
                </a:solidFill>
                <a:latin typeface="Arial"/>
                <a:cs typeface="Arial"/>
              </a:rPr>
              <a:t>temp max</a:t>
            </a:r>
            <a:r>
              <a:rPr dirty="0" sz="1300" spc="-5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b="1">
                <a:solidFill>
                  <a:srgbClr val="404155"/>
                </a:solidFill>
                <a:latin typeface="Arial"/>
                <a:cs typeface="Arial"/>
              </a:rPr>
              <a:t>temp</a:t>
            </a:r>
            <a:r>
              <a:rPr dirty="0" sz="1300" spc="5" b="1">
                <a:solidFill>
                  <a:srgbClr val="404155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404155"/>
                </a:solidFill>
                <a:latin typeface="Arial"/>
                <a:cs typeface="Arial"/>
              </a:rPr>
              <a:t>min </a:t>
            </a:r>
            <a:r>
              <a:rPr dirty="0" sz="1300" spc="-10">
                <a:solidFill>
                  <a:srgbClr val="404155"/>
                </a:solidFill>
                <a:latin typeface="Microsoft Sans Serif"/>
                <a:cs typeface="Microsoft Sans Serif"/>
              </a:rPr>
              <a:t>lines.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45360" y="6478270"/>
            <a:ext cx="12395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65">
                <a:solidFill>
                  <a:srgbClr val="404155"/>
                </a:solidFill>
                <a:latin typeface="Verdana"/>
                <a:cs typeface="Verdana"/>
              </a:rPr>
              <a:t>Map</a:t>
            </a:r>
            <a:r>
              <a:rPr dirty="0" sz="1600" spc="-14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04155"/>
                </a:solidFill>
                <a:latin typeface="Verdana"/>
                <a:cs typeface="Verdana"/>
              </a:rPr>
              <a:t>Marker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45360" y="6879437"/>
            <a:ext cx="6991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5">
                <a:solidFill>
                  <a:srgbClr val="404155"/>
                </a:solidFill>
                <a:latin typeface="Microsoft Sans Serif"/>
                <a:cs typeface="Microsoft Sans Serif"/>
              </a:rPr>
              <a:t>Leaflet's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83104" y="6901650"/>
            <a:ext cx="640080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480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L.map()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44773" y="6879437"/>
            <a:ext cx="3276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35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98088" y="6901650"/>
            <a:ext cx="914400" cy="201295"/>
          </a:xfrm>
          <a:prstGeom prst="rect">
            <a:avLst/>
          </a:prstGeom>
          <a:solidFill>
            <a:srgbClr val="EBEBF1"/>
          </a:solidFill>
        </p:spPr>
        <p:txBody>
          <a:bodyPr wrap="square" lIns="0" tIns="0" rIns="0" bIns="0" rtlCol="0" vert="horz">
            <a:spAutoFit/>
          </a:bodyPr>
          <a:lstStyle/>
          <a:p>
            <a:pPr marL="635">
              <a:lnSpc>
                <a:spcPts val="1480"/>
              </a:lnSpc>
            </a:pPr>
            <a:r>
              <a:rPr dirty="0" sz="1300" spc="-10">
                <a:solidFill>
                  <a:srgbClr val="404155"/>
                </a:solidFill>
                <a:latin typeface="Consolas"/>
                <a:cs typeface="Consolas"/>
              </a:rPr>
              <a:t>L.marker()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34332" y="6879437"/>
            <a:ext cx="4438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404155"/>
                </a:solidFill>
                <a:latin typeface="Microsoft Sans Serif"/>
                <a:cs typeface="Microsoft Sans Serif"/>
              </a:rPr>
              <a:t>place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45360" y="7108037"/>
            <a:ext cx="33235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6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3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70">
                <a:solidFill>
                  <a:srgbClr val="404155"/>
                </a:solidFill>
                <a:latin typeface="Microsoft Sans Serif"/>
                <a:cs typeface="Microsoft Sans Serif"/>
              </a:rPr>
              <a:t>update</a:t>
            </a:r>
            <a:r>
              <a:rPr dirty="0" sz="130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30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55">
                <a:solidFill>
                  <a:srgbClr val="404155"/>
                </a:solidFill>
                <a:latin typeface="Microsoft Sans Serif"/>
                <a:cs typeface="Microsoft Sans Serif"/>
              </a:rPr>
              <a:t>pin</a:t>
            </a:r>
            <a:r>
              <a:rPr dirty="0" sz="130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8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30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60">
                <a:solidFill>
                  <a:srgbClr val="404155"/>
                </a:solidFill>
                <a:latin typeface="Microsoft Sans Serif"/>
                <a:cs typeface="Microsoft Sans Serif"/>
              </a:rPr>
              <a:t>coordinate</a:t>
            </a:r>
            <a:r>
              <a:rPr dirty="0" sz="130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404155"/>
                </a:solidFill>
                <a:latin typeface="Microsoft Sans Serif"/>
                <a:cs typeface="Microsoft Sans Serif"/>
              </a:rPr>
              <a:t>change.</a:t>
            </a:r>
            <a:endParaRPr sz="1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3328415"/>
            <a:ext cx="2414016" cy="14904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6464" y="3328415"/>
            <a:ext cx="2410967" cy="14904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77400" y="3328415"/>
            <a:ext cx="2414016" cy="149047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81304" y="1505153"/>
            <a:ext cx="6161405" cy="7029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30"/>
              <a:t>Results</a:t>
            </a:r>
            <a:r>
              <a:rPr dirty="0" spc="-360"/>
              <a:t> </a:t>
            </a:r>
            <a:r>
              <a:rPr dirty="0" spc="-325"/>
              <a:t>&amp;</a:t>
            </a:r>
            <a:r>
              <a:rPr dirty="0" spc="-360"/>
              <a:t> </a:t>
            </a:r>
            <a:r>
              <a:rPr dirty="0" spc="-20"/>
              <a:t>Screenshots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1304" y="2753613"/>
            <a:ext cx="1149477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completed</a:t>
            </a:r>
            <a:r>
              <a:rPr dirty="0" sz="17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application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delivers</a:t>
            </a:r>
            <a:r>
              <a:rPr dirty="0" sz="1750" spc="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polished,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fully</a:t>
            </a:r>
            <a:r>
              <a:rPr dirty="0" sz="175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functional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experience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across</a:t>
            </a:r>
            <a:r>
              <a:rPr dirty="0" sz="1750" spc="-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all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major</a:t>
            </a:r>
            <a:r>
              <a:rPr dirty="0" sz="1750" spc="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browsers.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1304" y="5079619"/>
            <a:ext cx="3803015" cy="1584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Current</a:t>
            </a:r>
            <a:r>
              <a:rPr dirty="0" sz="2200" spc="-13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Weather</a:t>
            </a:r>
            <a:r>
              <a:rPr dirty="0" sz="2200" spc="-18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404155"/>
                </a:solidFill>
                <a:latin typeface="Verdana"/>
                <a:cs typeface="Verdana"/>
              </a:rPr>
              <a:t>Panel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700"/>
              </a:lnSpc>
              <a:spcBef>
                <a:spcPts val="955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Live</a:t>
            </a: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temperature,</a:t>
            </a:r>
            <a:r>
              <a:rPr dirty="0" sz="175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condition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icon,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humidity,</a:t>
            </a:r>
            <a:r>
              <a:rPr dirty="0" sz="17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wind</a:t>
            </a:r>
            <a:r>
              <a:rPr dirty="0" sz="175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speed</a:t>
            </a:r>
            <a:r>
              <a:rPr dirty="0" sz="17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displayed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prominently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-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load.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4398" y="5079619"/>
            <a:ext cx="3859529" cy="1584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Temperature</a:t>
            </a:r>
            <a:r>
              <a:rPr dirty="0" sz="2200" spc="-15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404155"/>
                </a:solidFill>
                <a:latin typeface="Verdana"/>
                <a:cs typeface="Verdana"/>
              </a:rPr>
              <a:t>Chart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700"/>
              </a:lnSpc>
              <a:spcBef>
                <a:spcPts val="955"/>
              </a:spcBef>
            </a:pP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Chart.js</a:t>
            </a:r>
            <a:r>
              <a:rPr dirty="0" sz="175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renders</a:t>
            </a:r>
            <a:r>
              <a:rPr dirty="0" sz="175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 </a:t>
            </a:r>
            <a:r>
              <a:rPr dirty="0" sz="1750" spc="120">
                <a:solidFill>
                  <a:srgbClr val="404155"/>
                </a:solidFill>
                <a:latin typeface="Microsoft Sans Serif"/>
                <a:cs typeface="Microsoft Sans Serif"/>
              </a:rPr>
              <a:t>smooth</a:t>
            </a:r>
            <a:r>
              <a:rPr dirty="0" sz="175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5">
                <a:solidFill>
                  <a:srgbClr val="404155"/>
                </a:solidFill>
                <a:latin typeface="Microsoft Sans Serif"/>
                <a:cs typeface="Microsoft Sans Serif"/>
              </a:rPr>
              <a:t>dual-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line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graph</a:t>
            </a:r>
            <a:r>
              <a:rPr dirty="0" sz="1750" spc="-9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70">
                <a:solidFill>
                  <a:srgbClr val="404155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-4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daily</a:t>
            </a:r>
            <a:r>
              <a:rPr dirty="0" sz="175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highs</a:t>
            </a:r>
            <a:r>
              <a:rPr dirty="0" sz="175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3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lows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across </a:t>
            </a:r>
            <a:r>
              <a:rPr dirty="0" sz="1750" spc="120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7-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day</a:t>
            </a:r>
            <a:r>
              <a:rPr dirty="0" sz="175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forecast.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67493" y="5079619"/>
            <a:ext cx="4165600" cy="1584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40">
                <a:solidFill>
                  <a:srgbClr val="404155"/>
                </a:solidFill>
                <a:latin typeface="Verdana"/>
                <a:cs typeface="Verdana"/>
              </a:rPr>
              <a:t>Interactive</a:t>
            </a:r>
            <a:r>
              <a:rPr dirty="0" sz="2200" spc="-15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95">
                <a:solidFill>
                  <a:srgbClr val="404155"/>
                </a:solidFill>
                <a:latin typeface="Verdana"/>
                <a:cs typeface="Verdana"/>
              </a:rPr>
              <a:t>Map</a:t>
            </a:r>
            <a:r>
              <a:rPr dirty="0" sz="2200" spc="-14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404155"/>
                </a:solidFill>
                <a:latin typeface="Verdana"/>
                <a:cs typeface="Verdana"/>
              </a:rPr>
              <a:t>View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37700"/>
              </a:lnSpc>
              <a:spcBef>
                <a:spcPts val="955"/>
              </a:spcBef>
            </a:pP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Leaflet</a:t>
            </a:r>
            <a:r>
              <a:rPr dirty="0" sz="175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map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centers</a:t>
            </a:r>
            <a:r>
              <a:rPr dirty="0" sz="1750" spc="-10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404155"/>
                </a:solidFill>
                <a:latin typeface="Microsoft Sans Serif"/>
                <a:cs typeface="Microsoft Sans Serif"/>
              </a:rPr>
              <a:t>on</a:t>
            </a:r>
            <a:r>
              <a:rPr dirty="0" sz="1750" spc="-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-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detected</a:t>
            </a:r>
            <a:r>
              <a:rPr dirty="0" sz="1750" spc="-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or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searched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04155"/>
                </a:solidFill>
                <a:latin typeface="Microsoft Sans Serif"/>
                <a:cs typeface="Microsoft Sans Serif"/>
              </a:rPr>
              <a:t>location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30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draggable,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updating</a:t>
            </a:r>
            <a:r>
              <a:rPr dirty="0" sz="175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marker.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1165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90"/>
              </a:spcBef>
            </a:pPr>
            <a:r>
              <a:rPr dirty="0"/>
              <a:t>Challenges</a:t>
            </a:r>
            <a:r>
              <a:rPr dirty="0" spc="-350"/>
              <a:t> </a:t>
            </a:r>
            <a:r>
              <a:rPr dirty="0" spc="-325"/>
              <a:t>&amp;</a:t>
            </a:r>
            <a:r>
              <a:rPr dirty="0" spc="-365"/>
              <a:t> </a:t>
            </a:r>
            <a:r>
              <a:rPr dirty="0"/>
              <a:t>Future</a:t>
            </a:r>
            <a:r>
              <a:rPr dirty="0" spc="-365"/>
              <a:t> </a:t>
            </a:r>
            <a:r>
              <a:rPr dirty="0" spc="45"/>
              <a:t>Enhancements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2217877"/>
            <a:ext cx="268033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>
                <a:latin typeface="Segoe UI Symbol"/>
                <a:cs typeface="Segoe UI Symbol"/>
              </a:rPr>
              <a:t>⚡</a:t>
            </a:r>
            <a:r>
              <a:rPr dirty="0" sz="2200" spc="35">
                <a:latin typeface="Segoe UI Symbol"/>
                <a:cs typeface="Segoe UI Symbol"/>
              </a:rPr>
              <a:t> </a:t>
            </a:r>
            <a:r>
              <a:rPr dirty="0" sz="2200">
                <a:solidFill>
                  <a:srgbClr val="1B1B27"/>
                </a:solidFill>
                <a:latin typeface="Verdana"/>
                <a:cs typeface="Verdana"/>
              </a:rPr>
              <a:t>Challenges</a:t>
            </a:r>
            <a:r>
              <a:rPr dirty="0" sz="2200" spc="-185">
                <a:solidFill>
                  <a:srgbClr val="1B1B27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1B1B27"/>
                </a:solidFill>
                <a:latin typeface="Verdana"/>
                <a:cs typeface="Verdana"/>
              </a:rPr>
              <a:t>Faced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035" y="2828036"/>
            <a:ext cx="245745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API</a:t>
            </a:r>
            <a:r>
              <a:rPr dirty="0" sz="2200" spc="-17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Rate</a:t>
            </a:r>
            <a:r>
              <a:rPr dirty="0" sz="2200" spc="-18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Limiting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035" y="3378055"/>
            <a:ext cx="2621280" cy="18637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75"/>
              </a:spcBef>
            </a:pP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Managing </a:t>
            </a: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OpenWeather's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4">
                <a:solidFill>
                  <a:srgbClr val="404155"/>
                </a:solidFill>
                <a:latin typeface="Microsoft Sans Serif"/>
                <a:cs typeface="Microsoft Sans Serif"/>
              </a:rPr>
              <a:t>free-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tier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call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limits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required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careful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caching</a:t>
            </a:r>
            <a:r>
              <a:rPr dirty="0" sz="1750" spc="-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50">
                <a:solidFill>
                  <a:srgbClr val="404155"/>
                </a:solidFill>
                <a:latin typeface="Microsoft Sans Serif"/>
                <a:cs typeface="Microsoft Sans Serif"/>
              </a:rPr>
              <a:t>of 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responses.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34002" y="2810967"/>
            <a:ext cx="1705610" cy="732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95"/>
              </a:spcBef>
            </a:pP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Geolocation Permissions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34002" y="3732512"/>
            <a:ext cx="2405380" cy="14947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80"/>
              </a:spcBef>
            </a:pP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Handling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denied 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permissions</a:t>
            </a:r>
            <a:r>
              <a:rPr dirty="0" sz="1750" spc="-7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gracefully </a:t>
            </a:r>
            <a:r>
              <a:rPr dirty="0" sz="1750" spc="130">
                <a:solidFill>
                  <a:srgbClr val="404155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fallback</a:t>
            </a:r>
            <a:r>
              <a:rPr dirty="0" sz="1750" spc="-8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search </a:t>
            </a:r>
            <a:r>
              <a:rPr dirty="0" sz="1750" spc="114">
                <a:solidFill>
                  <a:srgbClr val="404155"/>
                </a:solidFill>
                <a:latin typeface="Microsoft Sans Serif"/>
                <a:cs typeface="Microsoft Sans Serif"/>
              </a:rPr>
              <a:t>prompt.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035" y="5678170"/>
            <a:ext cx="305816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Chart</a:t>
            </a:r>
            <a:r>
              <a:rPr dirty="0" sz="2200" spc="-19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404155"/>
                </a:solidFill>
                <a:latin typeface="Verdana"/>
                <a:cs typeface="Verdana"/>
              </a:rPr>
              <a:t>Responsiveness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035" y="6226988"/>
            <a:ext cx="5553075" cy="75819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Ensuring</a:t>
            </a:r>
            <a:r>
              <a:rPr dirty="0" sz="1750" spc="1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Chart.js</a:t>
            </a:r>
            <a:r>
              <a:rPr dirty="0" sz="1750" spc="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resizes</a:t>
            </a:r>
            <a:r>
              <a:rPr dirty="0" sz="1750" spc="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correctly</a:t>
            </a:r>
            <a:r>
              <a:rPr dirty="0" sz="1750" spc="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across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mobile</a:t>
            </a:r>
            <a:r>
              <a:rPr dirty="0" sz="1750" spc="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desktop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0">
                <a:solidFill>
                  <a:srgbClr val="404155"/>
                </a:solidFill>
                <a:latin typeface="Microsoft Sans Serif"/>
                <a:cs typeface="Microsoft Sans Serif"/>
              </a:rPr>
              <a:t>viewports.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8377" y="2217877"/>
            <a:ext cx="206692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>
                <a:latin typeface="Segoe UI Symbol"/>
                <a:cs typeface="Segoe UI Symbol"/>
              </a:rPr>
              <a:t>🚀</a:t>
            </a:r>
            <a:r>
              <a:rPr dirty="0" sz="2200" spc="20">
                <a:latin typeface="Segoe UI Symbol"/>
                <a:cs typeface="Segoe UI Symbol"/>
              </a:rPr>
              <a:t> </a:t>
            </a:r>
            <a:r>
              <a:rPr dirty="0" sz="2200" spc="-10">
                <a:solidFill>
                  <a:srgbClr val="1B1B27"/>
                </a:solidFill>
                <a:latin typeface="Verdana"/>
                <a:cs typeface="Verdana"/>
              </a:rPr>
              <a:t>What's</a:t>
            </a:r>
            <a:r>
              <a:rPr dirty="0" sz="2200" spc="-180">
                <a:solidFill>
                  <a:srgbClr val="1B1B27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1B1B27"/>
                </a:solidFill>
                <a:latin typeface="Verdana"/>
                <a:cs typeface="Verdana"/>
              </a:rPr>
              <a:t>Next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76413" y="2828036"/>
            <a:ext cx="210820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Weather</a:t>
            </a:r>
            <a:r>
              <a:rPr dirty="0" sz="2200" spc="-13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404155"/>
                </a:solidFill>
                <a:latin typeface="Verdana"/>
                <a:cs typeface="Verdana"/>
              </a:rPr>
              <a:t>Alerts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76413" y="3378055"/>
            <a:ext cx="2670175" cy="112585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7800"/>
              </a:lnSpc>
              <a:spcBef>
                <a:spcPts val="8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Push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notifications</a:t>
            </a:r>
            <a:r>
              <a:rPr dirty="0" sz="1750" spc="-6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0">
                <a:solidFill>
                  <a:srgbClr val="404155"/>
                </a:solidFill>
                <a:latin typeface="Microsoft Sans Serif"/>
                <a:cs typeface="Microsoft Sans Serif"/>
              </a:rPr>
              <a:t>for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severe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weather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65">
                <a:solidFill>
                  <a:srgbClr val="404155"/>
                </a:solidFill>
                <a:latin typeface="Microsoft Sans Serif"/>
                <a:cs typeface="Microsoft Sans Serif"/>
              </a:rPr>
              <a:t>warnings in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5">
                <a:solidFill>
                  <a:srgbClr val="404155"/>
                </a:solidFill>
                <a:latin typeface="Microsoft Sans Serif"/>
                <a:cs typeface="Microsoft Sans Serif"/>
              </a:rPr>
              <a:t>the</a:t>
            </a:r>
            <a:r>
              <a:rPr dirty="0" sz="1750" spc="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user's</a:t>
            </a:r>
            <a:r>
              <a:rPr dirty="0" sz="1750" spc="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area.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41202" y="2828036"/>
            <a:ext cx="250317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35">
                <a:solidFill>
                  <a:srgbClr val="404155"/>
                </a:solidFill>
                <a:latin typeface="Verdana"/>
                <a:cs typeface="Verdana"/>
              </a:rPr>
              <a:t>Dark</a:t>
            </a:r>
            <a:r>
              <a:rPr dirty="0" sz="2200" spc="-145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270">
                <a:solidFill>
                  <a:srgbClr val="404155"/>
                </a:solidFill>
                <a:latin typeface="Verdana"/>
                <a:cs typeface="Verdana"/>
              </a:rPr>
              <a:t>/</a:t>
            </a:r>
            <a:r>
              <a:rPr dirty="0" sz="2200" spc="-14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Light</a:t>
            </a:r>
            <a:r>
              <a:rPr dirty="0" sz="2200" spc="-14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60">
                <a:solidFill>
                  <a:srgbClr val="404155"/>
                </a:solidFill>
                <a:latin typeface="Verdana"/>
                <a:cs typeface="Verdana"/>
              </a:rPr>
              <a:t>Mode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41202" y="3378055"/>
            <a:ext cx="2371090" cy="14947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80"/>
              </a:spcBef>
            </a:pPr>
            <a:r>
              <a:rPr dirty="0" sz="1750" spc="60">
                <a:solidFill>
                  <a:srgbClr val="404155"/>
                </a:solidFill>
                <a:latin typeface="Microsoft Sans Serif"/>
                <a:cs typeface="Microsoft Sans Serif"/>
              </a:rPr>
              <a:t>Theme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toggle</a:t>
            </a:r>
            <a:r>
              <a:rPr dirty="0" sz="1750" spc="-9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20">
                <a:solidFill>
                  <a:srgbClr val="404155"/>
                </a:solidFill>
                <a:latin typeface="Microsoft Sans Serif"/>
                <a:cs typeface="Microsoft Sans Serif"/>
              </a:rPr>
              <a:t>for </a:t>
            </a: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improved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35">
                <a:solidFill>
                  <a:srgbClr val="404155"/>
                </a:solidFill>
                <a:latin typeface="Microsoft Sans Serif"/>
                <a:cs typeface="Microsoft Sans Serif"/>
              </a:rPr>
              <a:t>accessibility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user</a:t>
            </a:r>
            <a:r>
              <a:rPr dirty="0" sz="1750" spc="4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5">
                <a:solidFill>
                  <a:srgbClr val="404155"/>
                </a:solidFill>
                <a:latin typeface="Microsoft Sans Serif"/>
                <a:cs typeface="Microsoft Sans Serif"/>
              </a:rPr>
              <a:t>preference </a:t>
            </a:r>
            <a:r>
              <a:rPr dirty="0" sz="1750" spc="75">
                <a:solidFill>
                  <a:srgbClr val="404155"/>
                </a:solidFill>
                <a:latin typeface="Microsoft Sans Serif"/>
                <a:cs typeface="Microsoft Sans Serif"/>
              </a:rPr>
              <a:t>support.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6413" y="5315204"/>
            <a:ext cx="228346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>
                <a:solidFill>
                  <a:srgbClr val="404155"/>
                </a:solidFill>
                <a:latin typeface="Verdana"/>
                <a:cs typeface="Verdana"/>
              </a:rPr>
              <a:t>Backend</a:t>
            </a:r>
            <a:r>
              <a:rPr dirty="0" sz="2200" spc="-8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-150">
                <a:solidFill>
                  <a:srgbClr val="404155"/>
                </a:solidFill>
                <a:latin typeface="Verdana"/>
                <a:cs typeface="Verdana"/>
              </a:rPr>
              <a:t>&amp;</a:t>
            </a:r>
            <a:r>
              <a:rPr dirty="0" sz="2200" spc="-30">
                <a:solidFill>
                  <a:srgbClr val="404155"/>
                </a:solidFill>
                <a:latin typeface="Verdana"/>
                <a:cs typeface="Verdana"/>
              </a:rPr>
              <a:t> </a:t>
            </a:r>
            <a:r>
              <a:rPr dirty="0" sz="2200" spc="120">
                <a:solidFill>
                  <a:srgbClr val="404155"/>
                </a:solidFill>
                <a:latin typeface="Verdana"/>
                <a:cs typeface="Verdana"/>
              </a:rPr>
              <a:t>PWA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6413" y="5864149"/>
            <a:ext cx="5560060" cy="75819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750" spc="90">
                <a:solidFill>
                  <a:srgbClr val="404155"/>
                </a:solidFill>
                <a:latin typeface="Microsoft Sans Serif"/>
                <a:cs typeface="Microsoft Sans Serif"/>
              </a:rPr>
              <a:t>Add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04155"/>
                </a:solidFill>
                <a:latin typeface="Microsoft Sans Serif"/>
                <a:cs typeface="Microsoft Sans Serif"/>
              </a:rPr>
              <a:t>Node.js</a:t>
            </a:r>
            <a:r>
              <a:rPr dirty="0" sz="1750" spc="-5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backend</a:t>
            </a:r>
            <a:r>
              <a:rPr dirty="0" sz="1750" spc="-6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0">
                <a:solidFill>
                  <a:srgbClr val="404155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0">
                <a:solidFill>
                  <a:srgbClr val="404155"/>
                </a:solidFill>
                <a:latin typeface="Microsoft Sans Serif"/>
                <a:cs typeface="Microsoft Sans Serif"/>
              </a:rPr>
              <a:t>convert</a:t>
            </a:r>
            <a:r>
              <a:rPr dirty="0" sz="1750" spc="-8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75">
                <a:solidFill>
                  <a:srgbClr val="404155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a</a:t>
            </a:r>
            <a:r>
              <a:rPr dirty="0" sz="1750" spc="-3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04155"/>
                </a:solidFill>
                <a:latin typeface="Microsoft Sans Serif"/>
                <a:cs typeface="Microsoft Sans Serif"/>
              </a:rPr>
              <a:t>Progressive</a:t>
            </a:r>
            <a:endParaRPr sz="1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750">
                <a:solidFill>
                  <a:srgbClr val="404155"/>
                </a:solidFill>
                <a:latin typeface="Microsoft Sans Serif"/>
                <a:cs typeface="Microsoft Sans Serif"/>
              </a:rPr>
              <a:t>Web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5">
                <a:solidFill>
                  <a:srgbClr val="404155"/>
                </a:solidFill>
                <a:latin typeface="Microsoft Sans Serif"/>
                <a:cs typeface="Microsoft Sans Serif"/>
              </a:rPr>
              <a:t>App</a:t>
            </a:r>
            <a:r>
              <a:rPr dirty="0" sz="1750" spc="-2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45">
                <a:solidFill>
                  <a:srgbClr val="404155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-1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05">
                <a:solidFill>
                  <a:srgbClr val="404155"/>
                </a:solidFill>
                <a:latin typeface="Microsoft Sans Serif"/>
                <a:cs typeface="Microsoft Sans Serif"/>
              </a:rPr>
              <a:t>offline</a:t>
            </a:r>
            <a:r>
              <a:rPr dirty="0" sz="1750" spc="-75">
                <a:solidFill>
                  <a:srgbClr val="404155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04155"/>
                </a:solidFill>
                <a:latin typeface="Microsoft Sans Serif"/>
                <a:cs typeface="Microsoft Sans Serif"/>
              </a:rPr>
              <a:t>use.</a:t>
            </a:r>
            <a:endParaRPr sz="1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0"/>
            <a:ext cx="5486400" cy="8229600"/>
            <a:chOff x="9144000" y="0"/>
            <a:chExt cx="5486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38176" y="7751062"/>
              <a:ext cx="1725168" cy="411480"/>
            </a:xfrm>
            <a:prstGeom prst="rect">
              <a:avLst/>
            </a:prstGeom>
          </p:spPr>
        </p:pic>
        <p:pic>
          <p:nvPicPr>
            <p:cNvPr id="4" name="object 4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0"/>
              <a:ext cx="5486400" cy="822959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44118" y="643255"/>
            <a:ext cx="3013710" cy="6731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50" spc="-10"/>
              <a:t>Conclusion</a:t>
            </a:r>
            <a:endParaRPr sz="4250"/>
          </a:p>
        </p:txBody>
      </p:sp>
      <p:sp>
        <p:nvSpPr>
          <p:cNvPr id="6" name="object 6"/>
          <p:cNvSpPr txBox="1"/>
          <p:nvPr/>
        </p:nvSpPr>
        <p:spPr>
          <a:xfrm>
            <a:off x="744118" y="1615685"/>
            <a:ext cx="7566025" cy="1401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10"/>
              </a:spcBef>
            </a:pP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Skycast</a:t>
            </a:r>
            <a:r>
              <a:rPr dirty="0" sz="1700" spc="-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demonstrates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5">
                <a:solidFill>
                  <a:srgbClr val="404154"/>
                </a:solidFill>
                <a:latin typeface="Microsoft Sans Serif"/>
                <a:cs typeface="Microsoft Sans Serif"/>
              </a:rPr>
              <a:t>how</a:t>
            </a:r>
            <a:r>
              <a:rPr dirty="0" sz="1700" spc="-7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0">
                <a:solidFill>
                  <a:srgbClr val="404154"/>
                </a:solidFill>
                <a:latin typeface="Microsoft Sans Serif"/>
                <a:cs typeface="Microsoft Sans Serif"/>
              </a:rPr>
              <a:t>modern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75">
                <a:solidFill>
                  <a:srgbClr val="404154"/>
                </a:solidFill>
                <a:latin typeface="Microsoft Sans Serif"/>
                <a:cs typeface="Microsoft Sans Serif"/>
              </a:rPr>
              <a:t>front-</a:t>
            </a:r>
            <a:r>
              <a:rPr dirty="0" sz="1700" spc="55">
                <a:solidFill>
                  <a:srgbClr val="404154"/>
                </a:solidFill>
                <a:latin typeface="Microsoft Sans Serif"/>
                <a:cs typeface="Microsoft Sans Serif"/>
              </a:rPr>
              <a:t>end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tools</a:t>
            </a:r>
            <a:r>
              <a:rPr dirty="0" sz="1700" spc="-9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4"/>
                </a:solidFill>
                <a:latin typeface="Microsoft Sans Serif"/>
                <a:cs typeface="Microsoft Sans Serif"/>
              </a:rPr>
              <a:t>can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4"/>
                </a:solidFill>
                <a:latin typeface="Microsoft Sans Serif"/>
                <a:cs typeface="Microsoft Sans Serif"/>
              </a:rPr>
              <a:t>deliver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a </a:t>
            </a:r>
            <a:r>
              <a:rPr dirty="0" sz="1700" spc="-10" b="1">
                <a:solidFill>
                  <a:srgbClr val="404154"/>
                </a:solidFill>
                <a:latin typeface="Arial"/>
                <a:cs typeface="Arial"/>
              </a:rPr>
              <a:t>rich, </a:t>
            </a:r>
            <a:r>
              <a:rPr dirty="0" sz="1700" b="1">
                <a:solidFill>
                  <a:srgbClr val="404154"/>
                </a:solidFill>
                <a:latin typeface="Arial"/>
                <a:cs typeface="Arial"/>
              </a:rPr>
              <a:t>real-</a:t>
            </a:r>
            <a:r>
              <a:rPr dirty="0" sz="1700" spc="-25" b="1">
                <a:solidFill>
                  <a:srgbClr val="404154"/>
                </a:solidFill>
                <a:latin typeface="Arial"/>
                <a:cs typeface="Arial"/>
              </a:rPr>
              <a:t>world</a:t>
            </a:r>
            <a:r>
              <a:rPr dirty="0" sz="1700" spc="-114" b="1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404154"/>
                </a:solidFill>
                <a:latin typeface="Arial"/>
                <a:cs typeface="Arial"/>
              </a:rPr>
              <a:t>application</a:t>
            </a:r>
            <a:r>
              <a:rPr dirty="0" sz="1700" spc="-80" b="1">
                <a:solidFill>
                  <a:srgbClr val="404154"/>
                </a:solidFill>
                <a:latin typeface="Arial"/>
                <a:cs typeface="Arial"/>
              </a:rPr>
              <a:t> </a:t>
            </a:r>
            <a:r>
              <a:rPr dirty="0" sz="1700" spc="135">
                <a:solidFill>
                  <a:srgbClr val="40415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404154"/>
                </a:solidFill>
                <a:latin typeface="Microsoft Sans Serif"/>
                <a:cs typeface="Microsoft Sans Serif"/>
              </a:rPr>
              <a:t>complex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infrastructure.</a:t>
            </a:r>
            <a:r>
              <a:rPr dirty="0" sz="170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200">
                <a:solidFill>
                  <a:srgbClr val="404154"/>
                </a:solidFill>
                <a:latin typeface="Microsoft Sans Serif"/>
                <a:cs typeface="Microsoft Sans Serif"/>
              </a:rPr>
              <a:t>It</a:t>
            </a:r>
            <a:r>
              <a:rPr dirty="0" sz="1700" spc="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Microsoft Sans Serif"/>
                <a:cs typeface="Microsoft Sans Serif"/>
              </a:rPr>
              <a:t>successfully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integrates</a:t>
            </a:r>
            <a:r>
              <a:rPr dirty="0" sz="1700" spc="-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live</a:t>
            </a:r>
            <a:r>
              <a:rPr dirty="0" sz="1700" spc="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APIs,</a:t>
            </a:r>
            <a:r>
              <a:rPr dirty="0" sz="1700" spc="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geolocation,</a:t>
            </a:r>
            <a:r>
              <a:rPr dirty="0" sz="170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20">
                <a:solidFill>
                  <a:srgbClr val="404154"/>
                </a:solidFill>
                <a:latin typeface="Microsoft Sans Serif"/>
                <a:cs typeface="Microsoft Sans Serif"/>
              </a:rPr>
              <a:t>data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0">
                <a:solidFill>
                  <a:srgbClr val="404154"/>
                </a:solidFill>
                <a:latin typeface="Microsoft Sans Serif"/>
                <a:cs typeface="Microsoft Sans Serif"/>
              </a:rPr>
              <a:t>visualization,</a:t>
            </a:r>
            <a:r>
              <a:rPr dirty="0" sz="170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4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404154"/>
                </a:solidFill>
                <a:latin typeface="Microsoft Sans Serif"/>
                <a:cs typeface="Microsoft Sans Serif"/>
              </a:rPr>
              <a:t>interactive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maps </a:t>
            </a:r>
            <a:r>
              <a:rPr dirty="0" sz="1700" spc="120">
                <a:solidFill>
                  <a:srgbClr val="404154"/>
                </a:solidFill>
                <a:latin typeface="Microsoft Sans Serif"/>
                <a:cs typeface="Microsoft Sans Serif"/>
              </a:rPr>
              <a:t>into</a:t>
            </a:r>
            <a:r>
              <a:rPr dirty="0" sz="1700" spc="-4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unified,</a:t>
            </a:r>
            <a:r>
              <a:rPr dirty="0" sz="1700" spc="-6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0">
                <a:solidFill>
                  <a:srgbClr val="404154"/>
                </a:solidFill>
                <a:latin typeface="Microsoft Sans Serif"/>
                <a:cs typeface="Microsoft Sans Serif"/>
              </a:rPr>
              <a:t>user-friendly</a:t>
            </a:r>
            <a:r>
              <a:rPr dirty="0" sz="1700" spc="-9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35">
                <a:solidFill>
                  <a:srgbClr val="404154"/>
                </a:solidFill>
                <a:latin typeface="Microsoft Sans Serif"/>
                <a:cs typeface="Microsoft Sans Serif"/>
              </a:rPr>
              <a:t>experience.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2665" y="3252025"/>
            <a:ext cx="7642225" cy="2826385"/>
            <a:chOff x="752665" y="3252025"/>
            <a:chExt cx="7642225" cy="2826385"/>
          </a:xfrm>
        </p:grpSpPr>
        <p:sp>
          <p:nvSpPr>
            <p:cNvPr id="8" name="object 8"/>
            <p:cNvSpPr/>
            <p:nvPr/>
          </p:nvSpPr>
          <p:spPr>
            <a:xfrm>
              <a:off x="757427" y="3256788"/>
              <a:ext cx="7632700" cy="2816860"/>
            </a:xfrm>
            <a:custGeom>
              <a:avLst/>
              <a:gdLst/>
              <a:ahLst/>
              <a:cxnLst/>
              <a:rect l="l" t="t" r="r" b="b"/>
              <a:pathLst>
                <a:path w="7632700" h="2816860">
                  <a:moveTo>
                    <a:pt x="7541387" y="0"/>
                  </a:moveTo>
                  <a:lnTo>
                    <a:pt x="90830" y="0"/>
                  </a:lnTo>
                  <a:lnTo>
                    <a:pt x="55474" y="7133"/>
                  </a:lnTo>
                  <a:lnTo>
                    <a:pt x="26603" y="26590"/>
                  </a:lnTo>
                  <a:lnTo>
                    <a:pt x="7137" y="55453"/>
                  </a:lnTo>
                  <a:lnTo>
                    <a:pt x="0" y="90804"/>
                  </a:lnTo>
                  <a:lnTo>
                    <a:pt x="0" y="2725547"/>
                  </a:lnTo>
                  <a:lnTo>
                    <a:pt x="7137" y="2760898"/>
                  </a:lnTo>
                  <a:lnTo>
                    <a:pt x="26603" y="2789761"/>
                  </a:lnTo>
                  <a:lnTo>
                    <a:pt x="55474" y="2809218"/>
                  </a:lnTo>
                  <a:lnTo>
                    <a:pt x="90830" y="2816352"/>
                  </a:lnTo>
                  <a:lnTo>
                    <a:pt x="7541387" y="2816352"/>
                  </a:lnTo>
                  <a:lnTo>
                    <a:pt x="7576738" y="2809218"/>
                  </a:lnTo>
                  <a:lnTo>
                    <a:pt x="7605601" y="2789761"/>
                  </a:lnTo>
                  <a:lnTo>
                    <a:pt x="7625058" y="2760898"/>
                  </a:lnTo>
                  <a:lnTo>
                    <a:pt x="7632192" y="2725547"/>
                  </a:lnTo>
                  <a:lnTo>
                    <a:pt x="7632192" y="90804"/>
                  </a:lnTo>
                  <a:lnTo>
                    <a:pt x="7625058" y="55453"/>
                  </a:lnTo>
                  <a:lnTo>
                    <a:pt x="7605601" y="26590"/>
                  </a:lnTo>
                  <a:lnTo>
                    <a:pt x="7576738" y="7133"/>
                  </a:lnTo>
                  <a:lnTo>
                    <a:pt x="7541387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57427" y="3256788"/>
              <a:ext cx="7632700" cy="2816860"/>
            </a:xfrm>
            <a:custGeom>
              <a:avLst/>
              <a:gdLst/>
              <a:ahLst/>
              <a:cxnLst/>
              <a:rect l="l" t="t" r="r" b="b"/>
              <a:pathLst>
                <a:path w="7632700" h="2816860">
                  <a:moveTo>
                    <a:pt x="0" y="90804"/>
                  </a:moveTo>
                  <a:lnTo>
                    <a:pt x="7137" y="55453"/>
                  </a:lnTo>
                  <a:lnTo>
                    <a:pt x="26603" y="26590"/>
                  </a:lnTo>
                  <a:lnTo>
                    <a:pt x="55474" y="7133"/>
                  </a:lnTo>
                  <a:lnTo>
                    <a:pt x="90830" y="0"/>
                  </a:lnTo>
                  <a:lnTo>
                    <a:pt x="7541387" y="0"/>
                  </a:lnTo>
                  <a:lnTo>
                    <a:pt x="7576738" y="7133"/>
                  </a:lnTo>
                  <a:lnTo>
                    <a:pt x="7605601" y="26590"/>
                  </a:lnTo>
                  <a:lnTo>
                    <a:pt x="7625058" y="55453"/>
                  </a:lnTo>
                  <a:lnTo>
                    <a:pt x="7632192" y="90804"/>
                  </a:lnTo>
                  <a:lnTo>
                    <a:pt x="7632192" y="2725547"/>
                  </a:lnTo>
                  <a:lnTo>
                    <a:pt x="7625058" y="2760898"/>
                  </a:lnTo>
                  <a:lnTo>
                    <a:pt x="7605601" y="2789761"/>
                  </a:lnTo>
                  <a:lnTo>
                    <a:pt x="7576738" y="2809218"/>
                  </a:lnTo>
                  <a:lnTo>
                    <a:pt x="7541387" y="2816352"/>
                  </a:lnTo>
                  <a:lnTo>
                    <a:pt x="90830" y="2816352"/>
                  </a:lnTo>
                  <a:lnTo>
                    <a:pt x="55474" y="2809218"/>
                  </a:lnTo>
                  <a:lnTo>
                    <a:pt x="26603" y="2789761"/>
                  </a:lnTo>
                  <a:lnTo>
                    <a:pt x="7137" y="2760898"/>
                  </a:lnTo>
                  <a:lnTo>
                    <a:pt x="0" y="2725547"/>
                  </a:lnTo>
                  <a:lnTo>
                    <a:pt x="0" y="90804"/>
                  </a:lnTo>
                  <a:close/>
                </a:path>
              </a:pathLst>
            </a:custGeom>
            <a:ln w="9144">
              <a:solidFill>
                <a:srgbClr val="B8C3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5047" y="3264408"/>
              <a:ext cx="3807460" cy="1569720"/>
            </a:xfrm>
            <a:custGeom>
              <a:avLst/>
              <a:gdLst/>
              <a:ahLst/>
              <a:cxnLst/>
              <a:rect l="l" t="t" r="r" b="b"/>
              <a:pathLst>
                <a:path w="3807460" h="1569720">
                  <a:moveTo>
                    <a:pt x="3716147" y="0"/>
                  </a:moveTo>
                  <a:lnTo>
                    <a:pt x="90843" y="0"/>
                  </a:lnTo>
                  <a:lnTo>
                    <a:pt x="55480" y="7133"/>
                  </a:lnTo>
                  <a:lnTo>
                    <a:pt x="26604" y="26590"/>
                  </a:lnTo>
                  <a:lnTo>
                    <a:pt x="7137" y="55453"/>
                  </a:lnTo>
                  <a:lnTo>
                    <a:pt x="0" y="90804"/>
                  </a:lnTo>
                  <a:lnTo>
                    <a:pt x="0" y="1478914"/>
                  </a:lnTo>
                  <a:lnTo>
                    <a:pt x="7137" y="1514266"/>
                  </a:lnTo>
                  <a:lnTo>
                    <a:pt x="26604" y="1543129"/>
                  </a:lnTo>
                  <a:lnTo>
                    <a:pt x="55480" y="1562586"/>
                  </a:lnTo>
                  <a:lnTo>
                    <a:pt x="90843" y="1569719"/>
                  </a:lnTo>
                  <a:lnTo>
                    <a:pt x="3716147" y="1569719"/>
                  </a:lnTo>
                  <a:lnTo>
                    <a:pt x="3751498" y="1562586"/>
                  </a:lnTo>
                  <a:lnTo>
                    <a:pt x="3780361" y="1543129"/>
                  </a:lnTo>
                  <a:lnTo>
                    <a:pt x="3799818" y="1514266"/>
                  </a:lnTo>
                  <a:lnTo>
                    <a:pt x="3806952" y="1478914"/>
                  </a:lnTo>
                  <a:lnTo>
                    <a:pt x="3806952" y="90804"/>
                  </a:lnTo>
                  <a:lnTo>
                    <a:pt x="3799818" y="55453"/>
                  </a:lnTo>
                  <a:lnTo>
                    <a:pt x="3780361" y="26590"/>
                  </a:lnTo>
                  <a:lnTo>
                    <a:pt x="3751498" y="7133"/>
                  </a:lnTo>
                  <a:lnTo>
                    <a:pt x="3716147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67841" y="3456813"/>
            <a:ext cx="2965450" cy="11430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latin typeface="Segoe UI Symbol"/>
                <a:cs typeface="Segoe UI Symbol"/>
              </a:rPr>
              <a:t>✅</a:t>
            </a:r>
            <a:r>
              <a:rPr dirty="0" sz="2100" spc="-25">
                <a:latin typeface="Segoe UI Symbol"/>
                <a:cs typeface="Segoe UI Symbol"/>
              </a:rPr>
              <a:t> </a:t>
            </a:r>
            <a:r>
              <a:rPr dirty="0" sz="2100" spc="-10">
                <a:solidFill>
                  <a:srgbClr val="404154"/>
                </a:solidFill>
                <a:latin typeface="Verdana"/>
                <a:cs typeface="Verdana"/>
              </a:rPr>
              <a:t>Built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700">
                <a:solidFill>
                  <a:srgbClr val="404154"/>
                </a:solidFill>
                <a:latin typeface="Microsoft Sans Serif"/>
                <a:cs typeface="Microsoft Sans Serif"/>
              </a:rPr>
              <a:t>Fully</a:t>
            </a:r>
            <a:r>
              <a:rPr dirty="0" sz="1700" spc="-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5">
                <a:solidFill>
                  <a:srgbClr val="404154"/>
                </a:solidFill>
                <a:latin typeface="Microsoft Sans Serif"/>
                <a:cs typeface="Microsoft Sans Serif"/>
              </a:rPr>
              <a:t>functional</a:t>
            </a:r>
            <a:r>
              <a:rPr dirty="0" sz="1700" spc="-2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90">
                <a:solidFill>
                  <a:srgbClr val="404154"/>
                </a:solidFill>
                <a:latin typeface="Microsoft Sans Serif"/>
                <a:cs typeface="Microsoft Sans Serif"/>
              </a:rPr>
              <a:t>weather</a:t>
            </a:r>
            <a:r>
              <a:rPr dirty="0" sz="1700" spc="-5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4"/>
                </a:solidFill>
                <a:latin typeface="Microsoft Sans Serif"/>
                <a:cs typeface="Microsoft Sans Serif"/>
              </a:rPr>
              <a:t>app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700" spc="130">
                <a:solidFill>
                  <a:srgbClr val="404154"/>
                </a:solidFill>
                <a:latin typeface="Microsoft Sans Serif"/>
                <a:cs typeface="Microsoft Sans Serif"/>
              </a:rPr>
              <a:t>with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404154"/>
                </a:solidFill>
                <a:latin typeface="Microsoft Sans Serif"/>
                <a:cs typeface="Microsoft Sans Serif"/>
              </a:rPr>
              <a:t>6</a:t>
            </a:r>
            <a:r>
              <a:rPr dirty="0" sz="1700" spc="-1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65">
                <a:solidFill>
                  <a:srgbClr val="404154"/>
                </a:solidFill>
                <a:latin typeface="Microsoft Sans Serif"/>
                <a:cs typeface="Microsoft Sans Serif"/>
              </a:rPr>
              <a:t>core</a:t>
            </a:r>
            <a:r>
              <a:rPr dirty="0" sz="1700" spc="-10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0">
                <a:solidFill>
                  <a:srgbClr val="404154"/>
                </a:solidFill>
                <a:latin typeface="Microsoft Sans Serif"/>
                <a:cs typeface="Microsoft Sans Serif"/>
              </a:rPr>
              <a:t>features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0" y="3264408"/>
            <a:ext cx="3807460" cy="1569720"/>
            <a:chOff x="4572000" y="3264408"/>
            <a:chExt cx="3807460" cy="1569720"/>
          </a:xfrm>
        </p:grpSpPr>
        <p:sp>
          <p:nvSpPr>
            <p:cNvPr id="13" name="object 13"/>
            <p:cNvSpPr/>
            <p:nvPr/>
          </p:nvSpPr>
          <p:spPr>
            <a:xfrm>
              <a:off x="4572000" y="3264408"/>
              <a:ext cx="3807460" cy="1569720"/>
            </a:xfrm>
            <a:custGeom>
              <a:avLst/>
              <a:gdLst/>
              <a:ahLst/>
              <a:cxnLst/>
              <a:rect l="l" t="t" r="r" b="b"/>
              <a:pathLst>
                <a:path w="3807459" h="1569720">
                  <a:moveTo>
                    <a:pt x="3806952" y="0"/>
                  </a:moveTo>
                  <a:lnTo>
                    <a:pt x="0" y="0"/>
                  </a:lnTo>
                  <a:lnTo>
                    <a:pt x="0" y="1569720"/>
                  </a:lnTo>
                  <a:lnTo>
                    <a:pt x="3806952" y="1569720"/>
                  </a:lnTo>
                  <a:lnTo>
                    <a:pt x="3806952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72000" y="3264408"/>
              <a:ext cx="30480" cy="1569720"/>
            </a:xfrm>
            <a:custGeom>
              <a:avLst/>
              <a:gdLst/>
              <a:ahLst/>
              <a:cxnLst/>
              <a:rect l="l" t="t" r="r" b="b"/>
              <a:pathLst>
                <a:path w="30479" h="1569719">
                  <a:moveTo>
                    <a:pt x="23622" y="0"/>
                  </a:moveTo>
                  <a:lnTo>
                    <a:pt x="6858" y="0"/>
                  </a:lnTo>
                  <a:lnTo>
                    <a:pt x="0" y="6857"/>
                  </a:lnTo>
                  <a:lnTo>
                    <a:pt x="0" y="15239"/>
                  </a:lnTo>
                  <a:lnTo>
                    <a:pt x="0" y="1562862"/>
                  </a:lnTo>
                  <a:lnTo>
                    <a:pt x="6858" y="1569719"/>
                  </a:lnTo>
                  <a:lnTo>
                    <a:pt x="23622" y="1569719"/>
                  </a:lnTo>
                  <a:lnTo>
                    <a:pt x="30479" y="1562862"/>
                  </a:lnTo>
                  <a:lnTo>
                    <a:pt x="30479" y="6857"/>
                  </a:lnTo>
                  <a:lnTo>
                    <a:pt x="23622" y="0"/>
                  </a:lnTo>
                  <a:close/>
                </a:path>
              </a:pathLst>
            </a:custGeom>
            <a:solidFill>
              <a:srgbClr val="B8C3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776342" y="3456813"/>
            <a:ext cx="2955290" cy="11430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latin typeface="Segoe UI Symbol"/>
                <a:cs typeface="Segoe UI Symbol"/>
              </a:rPr>
              <a:t>🌐</a:t>
            </a:r>
            <a:r>
              <a:rPr dirty="0" sz="2100" spc="-10">
                <a:latin typeface="Segoe UI Symbol"/>
                <a:cs typeface="Segoe UI Symbol"/>
              </a:rPr>
              <a:t> </a:t>
            </a:r>
            <a:r>
              <a:rPr dirty="0" sz="2100" spc="-50">
                <a:solidFill>
                  <a:srgbClr val="404154"/>
                </a:solidFill>
                <a:latin typeface="Verdana"/>
                <a:cs typeface="Verdana"/>
              </a:rPr>
              <a:t>Live</a:t>
            </a:r>
            <a:r>
              <a:rPr dirty="0" sz="2100" spc="-170">
                <a:solidFill>
                  <a:srgbClr val="404154"/>
                </a:solidFill>
                <a:latin typeface="Verdana"/>
                <a:cs typeface="Verdana"/>
              </a:rPr>
              <a:t> </a:t>
            </a:r>
            <a:r>
              <a:rPr dirty="0" sz="2100" spc="-20">
                <a:solidFill>
                  <a:srgbClr val="40415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700" spc="50">
                <a:solidFill>
                  <a:srgbClr val="404154"/>
                </a:solidFill>
                <a:latin typeface="Microsoft Sans Serif"/>
                <a:cs typeface="Microsoft Sans Serif"/>
              </a:rPr>
              <a:t>Real-</a:t>
            </a:r>
            <a:r>
              <a:rPr dirty="0" sz="1700" spc="114">
                <a:solidFill>
                  <a:srgbClr val="404154"/>
                </a:solidFill>
                <a:latin typeface="Microsoft Sans Serif"/>
                <a:cs typeface="Microsoft Sans Serif"/>
              </a:rPr>
              <a:t>time</a:t>
            </a:r>
            <a:r>
              <a:rPr dirty="0" sz="1700" spc="-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55">
                <a:solidFill>
                  <a:srgbClr val="404154"/>
                </a:solidFill>
                <a:latin typeface="Microsoft Sans Serif"/>
                <a:cs typeface="Microsoft Sans Serif"/>
              </a:rPr>
              <a:t>OpenWeather</a:t>
            </a:r>
            <a:r>
              <a:rPr dirty="0" sz="1700" spc="-8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35">
                <a:solidFill>
                  <a:srgbClr val="404154"/>
                </a:solidFill>
                <a:latin typeface="Microsoft Sans Serif"/>
                <a:cs typeface="Microsoft Sans Serif"/>
              </a:rPr>
              <a:t>API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integration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5048" y="4834128"/>
            <a:ext cx="7614284" cy="1231900"/>
            <a:chOff x="765048" y="4834128"/>
            <a:chExt cx="7614284" cy="1231900"/>
          </a:xfrm>
        </p:grpSpPr>
        <p:sp>
          <p:nvSpPr>
            <p:cNvPr id="17" name="object 17"/>
            <p:cNvSpPr/>
            <p:nvPr/>
          </p:nvSpPr>
          <p:spPr>
            <a:xfrm>
              <a:off x="765048" y="4834128"/>
              <a:ext cx="7614284" cy="1231900"/>
            </a:xfrm>
            <a:custGeom>
              <a:avLst/>
              <a:gdLst/>
              <a:ahLst/>
              <a:cxnLst/>
              <a:rect l="l" t="t" r="r" b="b"/>
              <a:pathLst>
                <a:path w="7614284" h="1231900">
                  <a:moveTo>
                    <a:pt x="7613904" y="0"/>
                  </a:moveTo>
                  <a:lnTo>
                    <a:pt x="0" y="0"/>
                  </a:lnTo>
                  <a:lnTo>
                    <a:pt x="0" y="1231392"/>
                  </a:lnTo>
                  <a:lnTo>
                    <a:pt x="7613904" y="1231392"/>
                  </a:lnTo>
                  <a:lnTo>
                    <a:pt x="7613904" y="0"/>
                  </a:lnTo>
                  <a:close/>
                </a:path>
              </a:pathLst>
            </a:custGeom>
            <a:solidFill>
              <a:srgbClr val="D2DD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65048" y="4834128"/>
              <a:ext cx="7614284" cy="30480"/>
            </a:xfrm>
            <a:custGeom>
              <a:avLst/>
              <a:gdLst/>
              <a:ahLst/>
              <a:cxnLst/>
              <a:rect l="l" t="t" r="r" b="b"/>
              <a:pathLst>
                <a:path w="7614284" h="30479">
                  <a:moveTo>
                    <a:pt x="7607046" y="0"/>
                  </a:moveTo>
                  <a:lnTo>
                    <a:pt x="6819" y="0"/>
                  </a:lnTo>
                  <a:lnTo>
                    <a:pt x="0" y="6858"/>
                  </a:lnTo>
                  <a:lnTo>
                    <a:pt x="0" y="15239"/>
                  </a:lnTo>
                  <a:lnTo>
                    <a:pt x="0" y="23622"/>
                  </a:lnTo>
                  <a:lnTo>
                    <a:pt x="6819" y="30480"/>
                  </a:lnTo>
                  <a:lnTo>
                    <a:pt x="7607046" y="30480"/>
                  </a:lnTo>
                  <a:lnTo>
                    <a:pt x="7613904" y="23622"/>
                  </a:lnTo>
                  <a:lnTo>
                    <a:pt x="7613904" y="6858"/>
                  </a:lnTo>
                  <a:lnTo>
                    <a:pt x="7607046" y="0"/>
                  </a:lnTo>
                  <a:close/>
                </a:path>
              </a:pathLst>
            </a:custGeom>
            <a:solidFill>
              <a:srgbClr val="B8C3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67841" y="5026533"/>
            <a:ext cx="3783965" cy="7988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latin typeface="Segoe UI Symbol"/>
                <a:cs typeface="Segoe UI Symbol"/>
              </a:rPr>
              <a:t>📍</a:t>
            </a:r>
            <a:r>
              <a:rPr dirty="0" sz="2100" spc="-20">
                <a:latin typeface="Segoe UI Symbol"/>
                <a:cs typeface="Segoe UI Symbol"/>
              </a:rPr>
              <a:t> </a:t>
            </a:r>
            <a:r>
              <a:rPr dirty="0" sz="2100">
                <a:solidFill>
                  <a:srgbClr val="404154"/>
                </a:solidFill>
                <a:latin typeface="Verdana"/>
                <a:cs typeface="Verdana"/>
              </a:rPr>
              <a:t>Location-</a:t>
            </a:r>
            <a:r>
              <a:rPr dirty="0" sz="2100" spc="-20">
                <a:solidFill>
                  <a:srgbClr val="404154"/>
                </a:solidFill>
                <a:latin typeface="Verdana"/>
                <a:cs typeface="Verdana"/>
              </a:rPr>
              <a:t>Aware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700" spc="145">
                <a:solidFill>
                  <a:srgbClr val="404154"/>
                </a:solidFill>
                <a:latin typeface="Microsoft Sans Serif"/>
                <a:cs typeface="Microsoft Sans Serif"/>
              </a:rPr>
              <a:t>Auto-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700" spc="-8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35">
                <a:solidFill>
                  <a:srgbClr val="404154"/>
                </a:solidFill>
                <a:latin typeface="Microsoft Sans Serif"/>
                <a:cs typeface="Microsoft Sans Serif"/>
              </a:rPr>
              <a:t>+</a:t>
            </a:r>
            <a:r>
              <a:rPr dirty="0" sz="1700" spc="-3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85">
                <a:solidFill>
                  <a:srgbClr val="404154"/>
                </a:solidFill>
                <a:latin typeface="Microsoft Sans Serif"/>
                <a:cs typeface="Microsoft Sans Serif"/>
              </a:rPr>
              <a:t>manual</a:t>
            </a:r>
            <a:r>
              <a:rPr dirty="0" sz="1700" spc="-70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100">
                <a:solidFill>
                  <a:srgbClr val="404154"/>
                </a:solidFill>
                <a:latin typeface="Microsoft Sans Serif"/>
                <a:cs typeface="Microsoft Sans Serif"/>
              </a:rPr>
              <a:t>city</a:t>
            </a:r>
            <a:r>
              <a:rPr dirty="0" sz="1700" spc="-55">
                <a:solidFill>
                  <a:srgbClr val="4041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404154"/>
                </a:solidFill>
                <a:latin typeface="Microsoft Sans Serif"/>
                <a:cs typeface="Microsoft Sans Serif"/>
              </a:rPr>
              <a:t>search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5904" y="6303264"/>
            <a:ext cx="7632700" cy="1237615"/>
            <a:chOff x="755904" y="6303264"/>
            <a:chExt cx="7632700" cy="1237615"/>
          </a:xfrm>
        </p:grpSpPr>
        <p:sp>
          <p:nvSpPr>
            <p:cNvPr id="21" name="object 21"/>
            <p:cNvSpPr/>
            <p:nvPr/>
          </p:nvSpPr>
          <p:spPr>
            <a:xfrm>
              <a:off x="755904" y="6303264"/>
              <a:ext cx="7632700" cy="1237615"/>
            </a:xfrm>
            <a:custGeom>
              <a:avLst/>
              <a:gdLst/>
              <a:ahLst/>
              <a:cxnLst/>
              <a:rect l="l" t="t" r="r" b="b"/>
              <a:pathLst>
                <a:path w="7632700" h="1237615">
                  <a:moveTo>
                    <a:pt x="7541260" y="0"/>
                  </a:moveTo>
                  <a:lnTo>
                    <a:pt x="90881" y="0"/>
                  </a:lnTo>
                  <a:lnTo>
                    <a:pt x="55506" y="7135"/>
                  </a:lnTo>
                  <a:lnTo>
                    <a:pt x="26619" y="26606"/>
                  </a:lnTo>
                  <a:lnTo>
                    <a:pt x="7142" y="55506"/>
                  </a:lnTo>
                  <a:lnTo>
                    <a:pt x="0" y="90931"/>
                  </a:lnTo>
                  <a:lnTo>
                    <a:pt x="0" y="1146606"/>
                  </a:lnTo>
                  <a:lnTo>
                    <a:pt x="7142" y="1181981"/>
                  </a:lnTo>
                  <a:lnTo>
                    <a:pt x="26619" y="1210868"/>
                  </a:lnTo>
                  <a:lnTo>
                    <a:pt x="55506" y="1230345"/>
                  </a:lnTo>
                  <a:lnTo>
                    <a:pt x="90881" y="1237488"/>
                  </a:lnTo>
                  <a:lnTo>
                    <a:pt x="7541260" y="1237488"/>
                  </a:lnTo>
                  <a:lnTo>
                    <a:pt x="7576685" y="1230345"/>
                  </a:lnTo>
                  <a:lnTo>
                    <a:pt x="7605585" y="1210868"/>
                  </a:lnTo>
                  <a:lnTo>
                    <a:pt x="7625056" y="1181981"/>
                  </a:lnTo>
                  <a:lnTo>
                    <a:pt x="7632192" y="1146606"/>
                  </a:lnTo>
                  <a:lnTo>
                    <a:pt x="7632192" y="90931"/>
                  </a:lnTo>
                  <a:lnTo>
                    <a:pt x="7625056" y="55506"/>
                  </a:lnTo>
                  <a:lnTo>
                    <a:pt x="7605585" y="26606"/>
                  </a:lnTo>
                  <a:lnTo>
                    <a:pt x="7576685" y="7135"/>
                  </a:lnTo>
                  <a:lnTo>
                    <a:pt x="7541260" y="0"/>
                  </a:lnTo>
                  <a:close/>
                </a:path>
              </a:pathLst>
            </a:custGeom>
            <a:solidFill>
              <a:srgbClr val="BACD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2312" y="6614160"/>
              <a:ext cx="271272" cy="21640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46657" y="6508902"/>
            <a:ext cx="6523990" cy="71437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700" b="1">
                <a:latin typeface="Arial"/>
                <a:cs typeface="Arial"/>
              </a:rPr>
              <a:t>Thank</a:t>
            </a:r>
            <a:r>
              <a:rPr dirty="0" sz="1700" spc="-60" b="1">
                <a:latin typeface="Arial"/>
                <a:cs typeface="Arial"/>
              </a:rPr>
              <a:t> </a:t>
            </a:r>
            <a:r>
              <a:rPr dirty="0" sz="1700" spc="-20" b="1">
                <a:latin typeface="Arial"/>
                <a:cs typeface="Arial"/>
              </a:rPr>
              <a:t>you</a:t>
            </a:r>
            <a:r>
              <a:rPr dirty="0" sz="1700" spc="-45" b="1">
                <a:latin typeface="Arial"/>
                <a:cs typeface="Arial"/>
              </a:rPr>
              <a:t> </a:t>
            </a:r>
            <a:r>
              <a:rPr dirty="0" sz="1700" spc="50" b="1">
                <a:latin typeface="Arial"/>
                <a:cs typeface="Arial"/>
              </a:rPr>
              <a:t>for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your</a:t>
            </a:r>
            <a:r>
              <a:rPr dirty="0" sz="1700" spc="-70" b="1">
                <a:latin typeface="Arial"/>
                <a:cs typeface="Arial"/>
              </a:rPr>
              <a:t> </a:t>
            </a:r>
            <a:r>
              <a:rPr dirty="0" sz="1700" b="1">
                <a:latin typeface="Arial"/>
                <a:cs typeface="Arial"/>
              </a:rPr>
              <a:t>time!</a:t>
            </a:r>
            <a:r>
              <a:rPr dirty="0" sz="1700" spc="-15" b="1">
                <a:latin typeface="Arial"/>
                <a:cs typeface="Arial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Questions </a:t>
            </a:r>
            <a:r>
              <a:rPr dirty="0" sz="1700" spc="95">
                <a:latin typeface="Microsoft Sans Serif"/>
                <a:cs typeface="Microsoft Sans Serif"/>
              </a:rPr>
              <a:t>and</a:t>
            </a:r>
            <a:r>
              <a:rPr dirty="0" sz="1700" spc="-15">
                <a:latin typeface="Microsoft Sans Serif"/>
                <a:cs typeface="Microsoft Sans Serif"/>
              </a:rPr>
              <a:t> </a:t>
            </a:r>
            <a:r>
              <a:rPr dirty="0" sz="1700" spc="85">
                <a:latin typeface="Microsoft Sans Serif"/>
                <a:cs typeface="Microsoft Sans Serif"/>
              </a:rPr>
              <a:t>feedback</a:t>
            </a:r>
            <a:r>
              <a:rPr dirty="0" sz="1700" spc="-10">
                <a:latin typeface="Microsoft Sans Serif"/>
                <a:cs typeface="Microsoft Sans Serif"/>
              </a:rPr>
              <a:t> </a:t>
            </a:r>
            <a:r>
              <a:rPr dirty="0" sz="1700" spc="55">
                <a:latin typeface="Microsoft Sans Serif"/>
                <a:cs typeface="Microsoft Sans Serif"/>
              </a:rPr>
              <a:t>are</a:t>
            </a:r>
            <a:r>
              <a:rPr dirty="0" sz="1700" spc="15">
                <a:latin typeface="Microsoft Sans Serif"/>
                <a:cs typeface="Microsoft Sans Serif"/>
              </a:rPr>
              <a:t> </a:t>
            </a:r>
            <a:r>
              <a:rPr dirty="0" sz="1700" spc="55">
                <a:latin typeface="Microsoft Sans Serif"/>
                <a:cs typeface="Microsoft Sans Serif"/>
              </a:rPr>
              <a:t>welcome.</a:t>
            </a:r>
            <a:endParaRPr sz="17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700" spc="-50">
                <a:latin typeface="Segoe UI Symbol"/>
                <a:cs typeface="Segoe UI Symbol"/>
              </a:rPr>
              <a:t>🙏</a:t>
            </a:r>
            <a:endParaRPr sz="17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2026-04-27T16:15:19Z</dcterms:created>
  <dcterms:modified xsi:type="dcterms:W3CDTF">2026-04-27T16:15:19Z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2026-04-27T00:00:00Z</vt:filetime>
  </property>
  <property fmtid="{D5CDD505-2E9C-101B-9397-08002B2CF9AE}" pid="6" name="Producer">
    <vt:lpwstr>www.ilovepdf.com</vt:lpwstr>
  </property>
</Properties>
</file>